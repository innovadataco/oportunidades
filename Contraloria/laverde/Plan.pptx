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4606"/>
  </p:normalViewPr>
  <p:slideViewPr>
    <p:cSldViewPr snapToGrid="0" snapToObjects="1">
      <p:cViewPr varScale="1">
        <p:scale>
          <a:sx n="119" d="100"/>
          <a:sy n="119" d="100"/>
        </p:scale>
        <p:origin x="15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2586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Filas 1 y 2 unificadas: la soberania de datos y los siete habilitadores viven dentro de la linea de soberania y eficiencia fiscal. Sin pie, como lo dejo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columnas con un solo flujo de lectura: que se construye, el sistema, quien lo usa. Mismo contenido; solo cambia la jerarquia, los paneles y las flechas.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dueno de CI2, con el carril de CI2 y el de IndTech marcados en cada linea. Tres bandas: foco, alcance, esfuerzo. Sin cifras ni compromisos de cantidad. La operacion es la linea que se sostiene en el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4000" cy="63500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/>
          <p:cNvSpPr/>
          <p:nvPr/>
        </p:nvSpPr>
        <p:spPr>
          <a:xfrm>
            <a:off x="4064000" y="0"/>
            <a:ext cx="4064000" cy="63500"/>
          </a:xfrm>
          <a:prstGeom prst="rect">
            <a:avLst/>
          </a:prstGeom>
          <a:solidFill>
            <a:srgbClr val="26529E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Shape 2"/>
          <p:cNvSpPr/>
          <p:nvPr/>
        </p:nvSpPr>
        <p:spPr>
          <a:xfrm>
            <a:off x="8128000" y="0"/>
            <a:ext cx="4064000" cy="63500"/>
          </a:xfrm>
          <a:prstGeom prst="rect">
            <a:avLst/>
          </a:prstGeom>
          <a:solidFill>
            <a:srgbClr val="D01A1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Text 3"/>
          <p:cNvSpPr/>
          <p:nvPr/>
        </p:nvSpPr>
        <p:spPr>
          <a:xfrm>
            <a:off x="609600" y="368300"/>
            <a:ext cx="11301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s-ES_tradnl" sz="2000" b="1" noProof="0" dirty="0">
                <a:solidFill>
                  <a:srgbClr val="0A20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Una Contraloría predictiva, tecnológica y descentralizada.</a:t>
            </a:r>
            <a:endParaRPr lang="es-ES_tradnl" sz="2000" noProof="0" dirty="0"/>
          </a:p>
        </p:txBody>
      </p:sp>
      <p:sp>
        <p:nvSpPr>
          <p:cNvPr id="7" name="Shape 5"/>
          <p:cNvSpPr/>
          <p:nvPr/>
        </p:nvSpPr>
        <p:spPr>
          <a:xfrm>
            <a:off x="609600" y="1206500"/>
            <a:ext cx="10972800" cy="260350"/>
          </a:xfrm>
          <a:custGeom>
            <a:avLst/>
            <a:gdLst/>
            <a:ahLst/>
            <a:cxnLst/>
            <a:rect l="l" t="t" r="r" b="b"/>
            <a:pathLst>
              <a:path w="10972800" h="260350">
                <a:moveTo>
                  <a:pt x="50800" y="0"/>
                </a:moveTo>
                <a:lnTo>
                  <a:pt x="10922000" y="0"/>
                </a:lnTo>
                <a:arcTo wR="50800" hR="50800" stAng="16200000" swAng="5400000"/>
                <a:lnTo>
                  <a:pt x="10972800" y="260350"/>
                </a:lnTo>
                <a:lnTo>
                  <a:pt x="0" y="260350"/>
                </a:lnTo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E9EEF6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8" name="Text 6"/>
          <p:cNvSpPr/>
          <p:nvPr/>
        </p:nvSpPr>
        <p:spPr>
          <a:xfrm>
            <a:off x="723900" y="1270000"/>
            <a:ext cx="15494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s-ES_tradnl" sz="750" b="1" kern="0" spc="100" noProof="0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LÍNEA ESTRATÉGICA</a:t>
            </a:r>
            <a:endParaRPr lang="es-ES_tradnl" sz="750" noProof="0" dirty="0"/>
          </a:p>
        </p:txBody>
      </p:sp>
      <p:sp>
        <p:nvSpPr>
          <p:cNvPr id="9" name="Text 7"/>
          <p:cNvSpPr/>
          <p:nvPr/>
        </p:nvSpPr>
        <p:spPr>
          <a:xfrm>
            <a:off x="2798233" y="1268332"/>
            <a:ext cx="1265767" cy="150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s-ES_tradnl" sz="750" b="1" kern="0" spc="100" noProof="0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 QUE BUSCA</a:t>
            </a:r>
            <a:endParaRPr lang="es-ES_tradnl" sz="750" noProof="0" dirty="0"/>
          </a:p>
        </p:txBody>
      </p:sp>
      <p:sp>
        <p:nvSpPr>
          <p:cNvPr id="10" name="Text 8"/>
          <p:cNvSpPr/>
          <p:nvPr/>
        </p:nvSpPr>
        <p:spPr>
          <a:xfrm>
            <a:off x="5127978" y="1278644"/>
            <a:ext cx="340106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s-ES_tradnl" sz="750" b="1" kern="0" spc="100" noProof="0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CÓMO LO CUMPLE EL PLAN</a:t>
            </a:r>
            <a:endParaRPr lang="es-ES_tradnl" sz="750" noProof="0" dirty="0"/>
          </a:p>
        </p:txBody>
      </p:sp>
      <p:sp>
        <p:nvSpPr>
          <p:cNvPr id="11" name="Text 9"/>
          <p:cNvSpPr/>
          <p:nvPr/>
        </p:nvSpPr>
        <p:spPr>
          <a:xfrm>
            <a:off x="8700911" y="1286944"/>
            <a:ext cx="2350911" cy="15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s-ES_tradnl" sz="750" b="1" kern="0" spc="100" noProof="0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RESULTADO ESPERADO · CÓMO SE MIDE</a:t>
            </a:r>
            <a:endParaRPr lang="es-ES_tradnl" sz="750" noProof="0" dirty="0"/>
          </a:p>
        </p:txBody>
      </p:sp>
      <p:sp>
        <p:nvSpPr>
          <p:cNvPr id="12" name="Shape 10"/>
          <p:cNvSpPr/>
          <p:nvPr/>
        </p:nvSpPr>
        <p:spPr>
          <a:xfrm>
            <a:off x="609600" y="1524000"/>
            <a:ext cx="10972800" cy="170075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3" name="Shape 11"/>
          <p:cNvSpPr/>
          <p:nvPr/>
        </p:nvSpPr>
        <p:spPr>
          <a:xfrm>
            <a:off x="609600" y="3221583"/>
            <a:ext cx="10972800" cy="0"/>
          </a:xfrm>
          <a:prstGeom prst="line">
            <a:avLst/>
          </a:prstGeom>
          <a:noFill/>
          <a:ln w="635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Text 12"/>
          <p:cNvSpPr/>
          <p:nvPr/>
        </p:nvSpPr>
        <p:spPr>
          <a:xfrm>
            <a:off x="685800" y="1638300"/>
            <a:ext cx="1447800" cy="149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5"/>
              </a:lnSpc>
              <a:buNone/>
            </a:pPr>
            <a:r>
              <a:rPr lang="es-ES_tradnl" sz="1100" b="1" noProof="0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Soberanía y eficiencia fiscal</a:t>
            </a:r>
            <a:endParaRPr lang="es-ES_tradnl" sz="1100" noProof="0" dirty="0"/>
          </a:p>
        </p:txBody>
      </p:sp>
      <p:sp>
        <p:nvSpPr>
          <p:cNvPr id="15" name="Text 13"/>
          <p:cNvSpPr/>
          <p:nvPr/>
        </p:nvSpPr>
        <p:spPr>
          <a:xfrm>
            <a:off x="2171700" y="1638300"/>
            <a:ext cx="2446147" cy="149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83"/>
              </a:lnSpc>
              <a:buNone/>
            </a:pPr>
            <a:r>
              <a:rPr lang="es-ES_tradnl" sz="950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Control preventivo y concomitante en tiempo real sobre macroproyectos y gasto social. Auditoría de misiones: evaluar el gasto por su impacto, no por su ejecución</a:t>
            </a:r>
          </a:p>
          <a:p>
            <a:pPr marL="0" indent="0" algn="l">
              <a:lnSpc>
                <a:spcPts val="1283"/>
              </a:lnSpc>
              <a:buNone/>
            </a:pPr>
            <a:r>
              <a:rPr lang="es-ES_tradnl" sz="950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Soberanía de datos fiscales y estándares internacionales: pasar de acumular datos a producir conocimiento útil para proteger el patrimonio público.</a:t>
            </a:r>
            <a:endParaRPr lang="es-ES_tradnl" sz="950" noProof="0" dirty="0"/>
          </a:p>
        </p:txBody>
      </p:sp>
      <p:sp>
        <p:nvSpPr>
          <p:cNvPr id="16" name="Text 14"/>
          <p:cNvSpPr/>
          <p:nvPr/>
        </p:nvSpPr>
        <p:spPr>
          <a:xfrm>
            <a:off x="4980372" y="1638300"/>
            <a:ext cx="2593783" cy="149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ts val="1283"/>
              </a:lnSpc>
              <a:buNone/>
            </a:pPr>
            <a:r>
              <a:rPr lang="es-ES_tradnl" sz="950" b="1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Plataforma de datos fiscales</a:t>
            </a:r>
            <a:r>
              <a:rPr lang="es-ES_tradnl" sz="950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del Centro Inteligente de Control Fiscal, con un sistema predictivo que alerta antes del pago: carruseles, mallas societarias, sobrecostos, obras que se van a quedar a medias. Auditoría conectada del ciclo completo del gasto, alertas preventivas compartidas con las oficinas de control interno, y el tablero de gestión institucional del Despacho</a:t>
            </a:r>
            <a:endParaRPr lang="es-ES_tradnl" sz="950" noProof="0" dirty="0"/>
          </a:p>
        </p:txBody>
      </p:sp>
      <p:sp>
        <p:nvSpPr>
          <p:cNvPr id="17" name="Text 15"/>
          <p:cNvSpPr/>
          <p:nvPr/>
        </p:nvSpPr>
        <p:spPr>
          <a:xfrm>
            <a:off x="7950200" y="1638300"/>
            <a:ext cx="3623437" cy="149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83"/>
              </a:lnSpc>
              <a:buNone/>
            </a:pPr>
            <a:r>
              <a:rPr lang="es-ES_tradnl" sz="950" b="1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Daño evitado </a:t>
            </a:r>
          </a:p>
          <a:p>
            <a:pPr marL="0" indent="0" algn="l">
              <a:lnSpc>
                <a:spcPts val="1283"/>
              </a:lnSpc>
              <a:buNone/>
            </a:pPr>
            <a:r>
              <a:rPr lang="es-ES_tradnl" sz="950" b="1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tiempo entre alerta y actuación </a:t>
            </a:r>
          </a:p>
          <a:p>
            <a:pPr marL="0" indent="0" algn="l">
              <a:lnSpc>
                <a:spcPts val="1283"/>
              </a:lnSpc>
              <a:buNone/>
            </a:pPr>
            <a:r>
              <a:rPr lang="es-ES_tradnl" sz="950" b="1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Fuentes y modelos en producción</a:t>
            </a:r>
          </a:p>
          <a:p>
            <a:pPr marL="0" indent="0" algn="l">
              <a:lnSpc>
                <a:spcPts val="1283"/>
              </a:lnSpc>
              <a:buNone/>
            </a:pPr>
            <a:r>
              <a:rPr lang="es-ES_tradnl" sz="950" b="1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Órganos de control conectados · funcionarios formados</a:t>
            </a:r>
            <a:endParaRPr lang="es-ES_tradnl" sz="950" noProof="0" dirty="0"/>
          </a:p>
        </p:txBody>
      </p:sp>
      <p:sp>
        <p:nvSpPr>
          <p:cNvPr id="18" name="Shape 16"/>
          <p:cNvSpPr/>
          <p:nvPr/>
        </p:nvSpPr>
        <p:spPr>
          <a:xfrm>
            <a:off x="609600" y="3224758"/>
            <a:ext cx="10972800" cy="1049288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9" name="Shape 17"/>
          <p:cNvSpPr/>
          <p:nvPr/>
        </p:nvSpPr>
        <p:spPr>
          <a:xfrm>
            <a:off x="609600" y="4270871"/>
            <a:ext cx="10972800" cy="0"/>
          </a:xfrm>
          <a:prstGeom prst="line">
            <a:avLst/>
          </a:prstGeom>
          <a:noFill/>
          <a:ln w="635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0" name="Text 18"/>
          <p:cNvSpPr/>
          <p:nvPr/>
        </p:nvSpPr>
        <p:spPr>
          <a:xfrm>
            <a:off x="685800" y="3339058"/>
            <a:ext cx="1447800" cy="83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5"/>
              </a:lnSpc>
              <a:buNone/>
            </a:pPr>
            <a:r>
              <a:rPr lang="es-ES_tradnl" sz="1100" b="1" noProof="0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Cero impunidades fiscales</a:t>
            </a:r>
            <a:endParaRPr lang="es-ES_tradnl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2171700" y="3339058"/>
            <a:ext cx="2446147" cy="83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83"/>
              </a:lnSpc>
              <a:buNone/>
            </a:pPr>
            <a:r>
              <a:rPr lang="es-ES_tradnl" sz="950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Procesos que no prescriben. Resarcimiento efectivo del daño. El hallazgo con consecuencia penal y disciplinaria: articulación fiscal, disciplinaria y penal sin vacíos ni duplicidades.</a:t>
            </a:r>
            <a:endParaRPr lang="es-ES_tradnl" sz="950" noProof="0" dirty="0"/>
          </a:p>
        </p:txBody>
      </p:sp>
      <p:sp>
        <p:nvSpPr>
          <p:cNvPr id="22" name="Text 20"/>
          <p:cNvSpPr/>
          <p:nvPr/>
        </p:nvSpPr>
        <p:spPr>
          <a:xfrm>
            <a:off x="4980372" y="3339058"/>
            <a:ext cx="2593783" cy="83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83"/>
              </a:lnSpc>
              <a:buNone/>
            </a:pPr>
            <a:r>
              <a:rPr lang="es-ES_tradnl" sz="950" b="1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Sistema de responsabilidad fiscal y recaudo</a:t>
            </a:r>
            <a:r>
              <a:rPr lang="es-ES_tradnl" sz="950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alertas de prescripción, expediente probatorio interoperable con Fiscalía y Procuraduría, y cobro coactivo conectado con Superfinanciera.</a:t>
            </a:r>
            <a:endParaRPr lang="es-ES_tradnl" sz="950" noProof="0" dirty="0"/>
          </a:p>
        </p:txBody>
      </p:sp>
      <p:sp>
        <p:nvSpPr>
          <p:cNvPr id="23" name="Text 21"/>
          <p:cNvSpPr/>
          <p:nvPr/>
        </p:nvSpPr>
        <p:spPr>
          <a:xfrm>
            <a:off x="7950200" y="3339058"/>
            <a:ext cx="3623437" cy="83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83"/>
              </a:lnSpc>
              <a:buNone/>
            </a:pPr>
            <a:r>
              <a:rPr lang="es-ES_tradnl" sz="950" b="1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Recursos recuperados ·</a:t>
            </a:r>
          </a:p>
          <a:p>
            <a:pPr marL="0" indent="0" algn="l">
              <a:lnSpc>
                <a:spcPts val="1283"/>
              </a:lnSpc>
              <a:buNone/>
            </a:pPr>
            <a:r>
              <a:rPr lang="es-ES_tradnl" sz="950" b="1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s-ES_tradnl" sz="950" b="1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</a:t>
            </a:r>
            <a:r>
              <a:rPr lang="es-ES_tradnl" sz="950" b="1" noProof="0" dirty="0" err="1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rocesos</a:t>
            </a:r>
            <a:r>
              <a:rPr lang="es-ES_tradnl" sz="950" b="1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sin prescribir </a:t>
            </a:r>
          </a:p>
          <a:p>
            <a:pPr marL="0" indent="0" algn="l">
              <a:lnSpc>
                <a:spcPts val="1283"/>
              </a:lnSpc>
              <a:buNone/>
            </a:pPr>
            <a:r>
              <a:rPr lang="es-ES_tradnl" sz="950" b="1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</a:t>
            </a:r>
            <a:r>
              <a:rPr lang="es-ES_tradnl" sz="950" b="1" noProof="0" dirty="0" err="1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xpedientes</a:t>
            </a:r>
            <a:r>
              <a:rPr lang="es-ES_tradnl" sz="950" b="1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trasladados con consecuencia</a:t>
            </a:r>
            <a:endParaRPr lang="es-ES_tradnl" sz="950" noProof="0" dirty="0"/>
          </a:p>
        </p:txBody>
      </p:sp>
      <p:sp>
        <p:nvSpPr>
          <p:cNvPr id="24" name="Shape 22"/>
          <p:cNvSpPr/>
          <p:nvPr/>
        </p:nvSpPr>
        <p:spPr>
          <a:xfrm>
            <a:off x="609600" y="4274046"/>
            <a:ext cx="10972800" cy="10492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25" name="Shape 23"/>
          <p:cNvSpPr/>
          <p:nvPr/>
        </p:nvSpPr>
        <p:spPr>
          <a:xfrm>
            <a:off x="609600" y="5320159"/>
            <a:ext cx="10972800" cy="0"/>
          </a:xfrm>
          <a:prstGeom prst="line">
            <a:avLst/>
          </a:prstGeom>
          <a:noFill/>
          <a:ln w="635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26" name="Text 24"/>
          <p:cNvSpPr/>
          <p:nvPr/>
        </p:nvSpPr>
        <p:spPr>
          <a:xfrm>
            <a:off x="685800" y="4388346"/>
            <a:ext cx="1447800" cy="83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5"/>
              </a:lnSpc>
              <a:buNone/>
            </a:pPr>
            <a:r>
              <a:rPr lang="es-ES_tradnl" sz="1100" b="1" noProof="0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Descentralización del control</a:t>
            </a:r>
            <a:endParaRPr lang="es-ES_tradnl" sz="1100" noProof="0" dirty="0"/>
          </a:p>
        </p:txBody>
      </p:sp>
      <p:sp>
        <p:nvSpPr>
          <p:cNvPr id="27" name="Text 25"/>
          <p:cNvSpPr/>
          <p:nvPr/>
        </p:nvSpPr>
        <p:spPr>
          <a:xfrm>
            <a:off x="2171700" y="4388346"/>
            <a:ext cx="2446147" cy="83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83"/>
              </a:lnSpc>
              <a:buNone/>
            </a:pPr>
            <a:r>
              <a:rPr lang="es-ES_tradnl" sz="950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Gerencias con capacidad real sobre el control de las  regalías. Del escritorio al territorio: vigilar donde el Estado no ha llegado, obras que se terminan, emergencias vigiladas. La capacidad analítica nacional al servicio de las gerencias.</a:t>
            </a:r>
            <a:endParaRPr lang="es-ES_tradnl" sz="950" noProof="0" dirty="0"/>
          </a:p>
        </p:txBody>
      </p:sp>
      <p:sp>
        <p:nvSpPr>
          <p:cNvPr id="28" name="Text 26"/>
          <p:cNvSpPr/>
          <p:nvPr/>
        </p:nvSpPr>
        <p:spPr>
          <a:xfrm>
            <a:off x="4900474" y="4388346"/>
            <a:ext cx="2673681" cy="83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83"/>
              </a:lnSpc>
              <a:buNone/>
            </a:pPr>
            <a:r>
              <a:rPr lang="es-ES_tradnl" sz="950" b="1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Tablero territorial y </a:t>
            </a:r>
            <a:r>
              <a:rPr lang="es-ES_tradnl" sz="950" b="1" noProof="0" dirty="0" err="1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Geoportal</a:t>
            </a:r>
            <a:r>
              <a:rPr lang="es-ES_tradnl" sz="950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tablero en cada gerencia con analítica de la DIARI, </a:t>
            </a:r>
            <a:r>
              <a:rPr lang="es-ES_tradnl" sz="950" noProof="0" dirty="0" err="1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Geoportal</a:t>
            </a:r>
            <a:r>
              <a:rPr lang="es-ES_tradnl" sz="950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obras y seguimiento a los recursos de la emergencia hasta el damnificado.</a:t>
            </a:r>
            <a:endParaRPr lang="es-ES_tradnl" sz="950" noProof="0" dirty="0"/>
          </a:p>
        </p:txBody>
      </p:sp>
      <p:sp>
        <p:nvSpPr>
          <p:cNvPr id="29" name="Text 27"/>
          <p:cNvSpPr/>
          <p:nvPr/>
        </p:nvSpPr>
        <p:spPr>
          <a:xfrm>
            <a:off x="7950200" y="4388346"/>
            <a:ext cx="3623437" cy="83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83"/>
              </a:lnSpc>
              <a:buNone/>
            </a:pPr>
            <a:r>
              <a:rPr lang="es-ES_tradnl" sz="950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Cada gerencia ve su departamento como el Despacho ve el país. </a:t>
            </a:r>
            <a:r>
              <a:rPr lang="es-ES_tradnl" sz="950" b="1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Gerencias con datos </a:t>
            </a:r>
          </a:p>
          <a:p>
            <a:pPr marL="0" indent="0" algn="l">
              <a:lnSpc>
                <a:spcPts val="1283"/>
              </a:lnSpc>
              <a:buNone/>
            </a:pPr>
            <a:r>
              <a:rPr lang="es-ES_tradnl" sz="950" b="1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</a:t>
            </a:r>
            <a:r>
              <a:rPr lang="es-ES_tradnl" sz="950" b="1" noProof="0" dirty="0" err="1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bras</a:t>
            </a:r>
            <a:r>
              <a:rPr lang="es-ES_tradnl" sz="950" b="1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 servicio </a:t>
            </a:r>
          </a:p>
          <a:p>
            <a:pPr marL="0" indent="0" algn="l">
              <a:lnSpc>
                <a:spcPts val="1283"/>
              </a:lnSpc>
              <a:buNone/>
            </a:pPr>
            <a:r>
              <a:rPr lang="es-ES_tradnl" sz="950" b="1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</a:t>
            </a:r>
            <a:r>
              <a:rPr lang="es-ES_tradnl" sz="950" b="1" noProof="0" dirty="0" err="1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ecursos</a:t>
            </a:r>
            <a:r>
              <a:rPr lang="es-ES_tradnl" sz="950" b="1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emergencia trazados</a:t>
            </a:r>
            <a:endParaRPr lang="es-ES_tradnl" sz="950" noProof="0" dirty="0"/>
          </a:p>
        </p:txBody>
      </p:sp>
      <p:sp>
        <p:nvSpPr>
          <p:cNvPr id="30" name="Shape 28"/>
          <p:cNvSpPr/>
          <p:nvPr/>
        </p:nvSpPr>
        <p:spPr>
          <a:xfrm>
            <a:off x="609600" y="5323334"/>
            <a:ext cx="10972800" cy="88642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1" name="Shape 29"/>
          <p:cNvSpPr/>
          <p:nvPr/>
        </p:nvSpPr>
        <p:spPr>
          <a:xfrm>
            <a:off x="609600" y="6206579"/>
            <a:ext cx="10972800" cy="0"/>
          </a:xfrm>
          <a:prstGeom prst="line">
            <a:avLst/>
          </a:prstGeom>
          <a:noFill/>
          <a:ln w="635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2" name="Text 30"/>
          <p:cNvSpPr/>
          <p:nvPr/>
        </p:nvSpPr>
        <p:spPr>
          <a:xfrm>
            <a:off x="685800" y="5437634"/>
            <a:ext cx="1447800" cy="676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5"/>
              </a:lnSpc>
              <a:buNone/>
            </a:pPr>
            <a:r>
              <a:rPr lang="es-ES_tradnl" sz="1100" b="1" noProof="0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Humanización y control ciudadano</a:t>
            </a:r>
            <a:endParaRPr lang="es-ES_tradnl" sz="1100" noProof="0" dirty="0"/>
          </a:p>
        </p:txBody>
      </p:sp>
      <p:sp>
        <p:nvSpPr>
          <p:cNvPr id="33" name="Text 31"/>
          <p:cNvSpPr/>
          <p:nvPr/>
        </p:nvSpPr>
        <p:spPr>
          <a:xfrm>
            <a:off x="2171700" y="5437634"/>
            <a:ext cx="2446147" cy="676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83"/>
              </a:lnSpc>
              <a:buNone/>
            </a:pPr>
            <a:r>
              <a:rPr lang="es-ES_tradnl" sz="950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ciudadano como auditor. La dignidad de la persona en el centro de cada auditoría. Pedagogía fiscal. Rendición de cuentas al Congreso con datos.</a:t>
            </a:r>
            <a:endParaRPr lang="es-ES_tradnl" sz="950" noProof="0" dirty="0"/>
          </a:p>
        </p:txBody>
      </p:sp>
      <p:sp>
        <p:nvSpPr>
          <p:cNvPr id="34" name="Text 32"/>
          <p:cNvSpPr/>
          <p:nvPr/>
        </p:nvSpPr>
        <p:spPr>
          <a:xfrm>
            <a:off x="4900474" y="5437634"/>
            <a:ext cx="2752077" cy="676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83"/>
              </a:lnSpc>
              <a:buNone/>
            </a:pPr>
            <a:r>
              <a:rPr lang="es-ES_tradnl" sz="950" b="1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Ventanilla única de denuncias, sistema de seguimiento ciudadano, Escuela Nacional de Control Ciudadano</a:t>
            </a:r>
            <a:r>
              <a:rPr lang="es-ES_tradnl" sz="950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 tablero de control político en tiempo real para el Congreso.</a:t>
            </a:r>
            <a:endParaRPr lang="es-ES_tradnl" sz="950" noProof="0" dirty="0"/>
          </a:p>
        </p:txBody>
      </p:sp>
      <p:sp>
        <p:nvSpPr>
          <p:cNvPr id="35" name="Text 33"/>
          <p:cNvSpPr/>
          <p:nvPr/>
        </p:nvSpPr>
        <p:spPr>
          <a:xfrm>
            <a:off x="7950200" y="5437634"/>
            <a:ext cx="3623437" cy="676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83"/>
              </a:lnSpc>
              <a:buNone/>
            </a:pPr>
            <a:r>
              <a:rPr lang="es-ES_tradnl" sz="950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ciudadano audita con datos; el Congreso controla con información. </a:t>
            </a:r>
            <a:r>
              <a:rPr lang="es-ES_tradnl" sz="950" b="1" noProof="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Veedurías activas · auditorías visibles · informes al Congreso con datos</a:t>
            </a:r>
            <a:endParaRPr lang="es-ES_tradnl" sz="95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4000" cy="63500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4064000" y="0"/>
            <a:ext cx="4064000" cy="63500"/>
          </a:xfrm>
          <a:prstGeom prst="rect">
            <a:avLst/>
          </a:prstGeom>
          <a:solidFill>
            <a:srgbClr val="26529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" name="Shape 2"/>
          <p:cNvSpPr/>
          <p:nvPr/>
        </p:nvSpPr>
        <p:spPr>
          <a:xfrm>
            <a:off x="8128000" y="0"/>
            <a:ext cx="4064000" cy="63500"/>
          </a:xfrm>
          <a:prstGeom prst="rect">
            <a:avLst/>
          </a:prstGeom>
          <a:solidFill>
            <a:srgbClr val="D01A1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" name="Text 3"/>
          <p:cNvSpPr/>
          <p:nvPr/>
        </p:nvSpPr>
        <p:spPr>
          <a:xfrm>
            <a:off x="254000" y="241300"/>
            <a:ext cx="6540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A20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Centro Inteligente de Control Fiscal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4000" y="779115"/>
            <a:ext cx="3175000" cy="0"/>
          </a:xfrm>
          <a:prstGeom prst="line">
            <a:avLst/>
          </a:prstGeom>
          <a:noFill/>
          <a:ln w="6350">
            <a:solidFill>
              <a:srgbClr val="C9D6E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8" name="Text 6"/>
          <p:cNvSpPr/>
          <p:nvPr/>
        </p:nvSpPr>
        <p:spPr>
          <a:xfrm>
            <a:off x="254000" y="622300"/>
            <a:ext cx="3270250" cy="14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kern="0" spc="150" dirty="0">
                <a:solidFill>
                  <a:srgbClr val="265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QUÉ SE CONSTRUYE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3683000" y="779115"/>
            <a:ext cx="3810000" cy="0"/>
          </a:xfrm>
          <a:prstGeom prst="line">
            <a:avLst/>
          </a:prstGeom>
          <a:noFill/>
          <a:ln w="6350">
            <a:solidFill>
              <a:srgbClr val="C9D6E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Text 8"/>
          <p:cNvSpPr/>
          <p:nvPr/>
        </p:nvSpPr>
        <p:spPr>
          <a:xfrm>
            <a:off x="3683000" y="622300"/>
            <a:ext cx="3924300" cy="14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kern="0" spc="150" dirty="0">
                <a:solidFill>
                  <a:srgbClr val="265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SISTEMA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7747000" y="779115"/>
            <a:ext cx="4191000" cy="0"/>
          </a:xfrm>
          <a:prstGeom prst="line">
            <a:avLst/>
          </a:prstGeom>
          <a:noFill/>
          <a:ln w="6350">
            <a:solidFill>
              <a:srgbClr val="C9D6E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" name="Text 10"/>
          <p:cNvSpPr/>
          <p:nvPr/>
        </p:nvSpPr>
        <p:spPr>
          <a:xfrm>
            <a:off x="7747000" y="622300"/>
            <a:ext cx="4316730" cy="14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kern="0" spc="150" dirty="0">
                <a:solidFill>
                  <a:srgbClr val="265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QUIÉN LO USA</a:t>
            </a:r>
            <a:endParaRPr lang="en-US" sz="650" dirty="0"/>
          </a:p>
        </p:txBody>
      </p:sp>
      <p:pic>
        <p:nvPicPr>
          <p:cNvPr id="13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67100" y="3098800"/>
            <a:ext cx="177800" cy="139700"/>
          </a:xfrm>
          <a:prstGeom prst="rect">
            <a:avLst/>
          </a:prstGeom>
        </p:spPr>
      </p:pic>
      <p:pic>
        <p:nvPicPr>
          <p:cNvPr id="14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31100" y="3098800"/>
            <a:ext cx="177800" cy="1397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57175" y="866775"/>
            <a:ext cx="3168650" cy="5446316"/>
          </a:xfrm>
          <a:prstGeom prst="roundRect">
            <a:avLst>
              <a:gd name="adj" fmla="val 1904"/>
            </a:avLst>
          </a:prstGeom>
          <a:solidFill>
            <a:srgbClr val="F6F8FB"/>
          </a:solidFill>
          <a:ln w="635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Text 12"/>
          <p:cNvSpPr/>
          <p:nvPr/>
        </p:nvSpPr>
        <p:spPr>
          <a:xfrm>
            <a:off x="387350" y="971550"/>
            <a:ext cx="2995549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Proyectos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87350" y="1442651"/>
            <a:ext cx="2908300" cy="0"/>
          </a:xfrm>
          <a:prstGeom prst="line">
            <a:avLst/>
          </a:prstGeom>
          <a:noFill/>
          <a:ln w="12700">
            <a:solidFill>
              <a:srgbClr val="26529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8" name="Text 14"/>
          <p:cNvSpPr/>
          <p:nvPr/>
        </p:nvSpPr>
        <p:spPr>
          <a:xfrm>
            <a:off x="387349" y="1280507"/>
            <a:ext cx="2995549" cy="14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kern="0" spc="100" dirty="0">
                <a:solidFill>
                  <a:srgbClr val="265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PLATAFORMA DE DATOS FISCALES</a:t>
            </a:r>
            <a:endParaRPr lang="en-US" sz="650" dirty="0"/>
          </a:p>
        </p:txBody>
      </p:sp>
      <p:sp>
        <p:nvSpPr>
          <p:cNvPr id="19" name="Text 15"/>
          <p:cNvSpPr/>
          <p:nvPr/>
        </p:nvSpPr>
        <p:spPr>
          <a:xfrm>
            <a:off x="387350" y="1605209"/>
            <a:ext cx="2995549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– Bus de interoperabilidad de la DIARI: fortalecer las capacidades de interoperar con: SECOP, SIIF, SIGEP, DIAN, Procuraduría, Fiscalía, Registraduría, regalías, órganos de control y oficinas de control interno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87350" y="2076301"/>
            <a:ext cx="2995549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– Motor de alertas tempranas no vinculantes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87350" y="2344242"/>
            <a:ext cx="2995549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– Base de conocimiento del daño fiscal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87349" y="2566363"/>
            <a:ext cx="2995549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– Tablero de gestión de la entidad e indicadores de control fiscal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387350" y="2782342"/>
            <a:ext cx="2995549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– Alerta de prescripción y expediente probatorio digital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387350" y="2958852"/>
            <a:ext cx="2995549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– Cobro coactivo conectado a bienes y cuentas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87350" y="3135362"/>
            <a:ext cx="2995549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– Tablero de SGP y regalías en las gerencias territoriales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95351" y="3394700"/>
            <a:ext cx="2995549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– Geoportal de obras inconclusas y emergencias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387349" y="3670637"/>
            <a:ext cx="2995549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– Centro de Control y Sala de crisis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87349" y="3924409"/>
            <a:ext cx="2995549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– Interoperabilidad con dispositivos desplegados en campo (IoT): sensores, drones y estaciones desplegadas en campo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387350" y="4547394"/>
            <a:ext cx="2908300" cy="0"/>
          </a:xfrm>
          <a:prstGeom prst="line">
            <a:avLst/>
          </a:prstGeom>
          <a:noFill/>
          <a:ln w="12700">
            <a:solidFill>
              <a:srgbClr val="26529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3" name="Text 29"/>
          <p:cNvSpPr/>
          <p:nvPr/>
        </p:nvSpPr>
        <p:spPr>
          <a:xfrm>
            <a:off x="387350" y="4406454"/>
            <a:ext cx="2995549" cy="14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kern="0" spc="100" dirty="0">
                <a:solidFill>
                  <a:srgbClr val="265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VENTANILLA ÚNICA DE DENUNCIAS</a:t>
            </a:r>
            <a:endParaRPr lang="en-US" sz="650" dirty="0"/>
          </a:p>
        </p:txBody>
      </p:sp>
      <p:sp>
        <p:nvSpPr>
          <p:cNvPr id="34" name="Text 30"/>
          <p:cNvSpPr/>
          <p:nvPr/>
        </p:nvSpPr>
        <p:spPr>
          <a:xfrm>
            <a:off x="387350" y="4598194"/>
            <a:ext cx="2995549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– Ventanilla digital con las contralorías territoriales y protección del denunciante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387350" y="5015954"/>
            <a:ext cx="2908300" cy="0"/>
          </a:xfrm>
          <a:prstGeom prst="line">
            <a:avLst/>
          </a:prstGeom>
          <a:noFill/>
          <a:ln w="12700">
            <a:solidFill>
              <a:srgbClr val="26529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6" name="Text 32"/>
          <p:cNvSpPr/>
          <p:nvPr/>
        </p:nvSpPr>
        <p:spPr>
          <a:xfrm>
            <a:off x="387350" y="4875014"/>
            <a:ext cx="2995549" cy="14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kern="0" spc="100" dirty="0">
                <a:solidFill>
                  <a:srgbClr val="265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SISTEMA DE SEGUIMIENTO CIUDADANO</a:t>
            </a:r>
            <a:endParaRPr lang="en-US" sz="650" dirty="0"/>
          </a:p>
        </p:txBody>
      </p:sp>
      <p:sp>
        <p:nvSpPr>
          <p:cNvPr id="37" name="Text 33"/>
          <p:cNvSpPr/>
          <p:nvPr/>
        </p:nvSpPr>
        <p:spPr>
          <a:xfrm>
            <a:off x="387350" y="5066754"/>
            <a:ext cx="2995549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– Portal de datos abiertos del seguimiento de proyectos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387350" y="5352455"/>
            <a:ext cx="2908300" cy="0"/>
          </a:xfrm>
          <a:prstGeom prst="line">
            <a:avLst/>
          </a:prstGeom>
          <a:noFill/>
          <a:ln w="12700">
            <a:solidFill>
              <a:srgbClr val="26529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9" name="Text 35"/>
          <p:cNvSpPr/>
          <p:nvPr/>
        </p:nvSpPr>
        <p:spPr>
          <a:xfrm>
            <a:off x="387350" y="5211514"/>
            <a:ext cx="2995549" cy="14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kern="0" spc="100" dirty="0">
                <a:solidFill>
                  <a:srgbClr val="265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ESCUELA NACIONAL DE CONTROL CIUDADANO</a:t>
            </a:r>
            <a:endParaRPr lang="en-US" sz="650" dirty="0"/>
          </a:p>
        </p:txBody>
      </p:sp>
      <p:sp>
        <p:nvSpPr>
          <p:cNvPr id="40" name="Text 36"/>
          <p:cNvSpPr/>
          <p:nvPr/>
        </p:nvSpPr>
        <p:spPr>
          <a:xfrm>
            <a:off x="387350" y="5403255"/>
            <a:ext cx="2995549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– Formación certificada a veedurías con universidades públicas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387350" y="5688955"/>
            <a:ext cx="2908300" cy="0"/>
          </a:xfrm>
          <a:prstGeom prst="line">
            <a:avLst/>
          </a:prstGeom>
          <a:noFill/>
          <a:ln w="12700">
            <a:solidFill>
              <a:srgbClr val="26529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2" name="Text 38"/>
          <p:cNvSpPr/>
          <p:nvPr/>
        </p:nvSpPr>
        <p:spPr>
          <a:xfrm>
            <a:off x="387350" y="5548015"/>
            <a:ext cx="2995549" cy="14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kern="0" spc="100" dirty="0">
                <a:solidFill>
                  <a:srgbClr val="265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ALERTAS PREVENTIVAS PARA CONTROL INTERNO</a:t>
            </a:r>
            <a:endParaRPr lang="en-US" sz="650" dirty="0"/>
          </a:p>
        </p:txBody>
      </p:sp>
      <p:sp>
        <p:nvSpPr>
          <p:cNvPr id="43" name="Text 39"/>
          <p:cNvSpPr/>
          <p:nvPr/>
        </p:nvSpPr>
        <p:spPr>
          <a:xfrm>
            <a:off x="387350" y="5739755"/>
            <a:ext cx="2995549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– Modelo de control fiscal interno e índice anual de efectividad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87350" y="6025455"/>
            <a:ext cx="2908300" cy="0"/>
          </a:xfrm>
          <a:prstGeom prst="line">
            <a:avLst/>
          </a:prstGeom>
          <a:noFill/>
          <a:ln w="12700">
            <a:solidFill>
              <a:srgbClr val="26529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5" name="Text 41"/>
          <p:cNvSpPr/>
          <p:nvPr/>
        </p:nvSpPr>
        <p:spPr>
          <a:xfrm>
            <a:off x="387350" y="5884515"/>
            <a:ext cx="2995549" cy="14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kern="0" spc="100" dirty="0">
                <a:solidFill>
                  <a:srgbClr val="26529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INFORMACIÓN PARA EL CONGRESO</a:t>
            </a:r>
            <a:endParaRPr lang="en-US" sz="650" dirty="0"/>
          </a:p>
        </p:txBody>
      </p:sp>
      <p:sp>
        <p:nvSpPr>
          <p:cNvPr id="46" name="Text 42"/>
          <p:cNvSpPr/>
          <p:nvPr/>
        </p:nvSpPr>
        <p:spPr>
          <a:xfrm>
            <a:off x="387350" y="6076255"/>
            <a:ext cx="2995549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– Tablero de control político en tiempo real para el Congreso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3683000" y="863600"/>
            <a:ext cx="3810000" cy="5426472"/>
          </a:xfrm>
          <a:prstGeom prst="roundRect">
            <a:avLst>
              <a:gd name="adj" fmla="val 1667"/>
            </a:avLst>
          </a:prstGeom>
          <a:solidFill>
            <a:srgbClr val="0A204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8" name="Text 44"/>
          <p:cNvSpPr/>
          <p:nvPr/>
        </p:nvSpPr>
        <p:spPr>
          <a:xfrm>
            <a:off x="3782822" y="1003300"/>
            <a:ext cx="3610356" cy="53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95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Centro Inteligente de Control Fiscal</a:t>
            </a:r>
            <a:endParaRPr lang="en-US" sz="1900" dirty="0"/>
          </a:p>
        </p:txBody>
      </p:sp>
      <p:sp>
        <p:nvSpPr>
          <p:cNvPr id="49" name="Text 45"/>
          <p:cNvSpPr/>
          <p:nvPr/>
        </p:nvSpPr>
        <p:spPr>
          <a:xfrm>
            <a:off x="3782822" y="1573510"/>
            <a:ext cx="3610356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Motor analítico: DIARI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3835400" y="1769070"/>
            <a:ext cx="3610356" cy="132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b="1" kern="0" spc="150" dirty="0">
                <a:solidFill>
                  <a:srgbClr val="F2B6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LÍNEAS ESTRATÉGICAS</a:t>
            </a:r>
            <a:endParaRPr lang="en-US" sz="600" dirty="0"/>
          </a:p>
        </p:txBody>
      </p:sp>
      <p:sp>
        <p:nvSpPr>
          <p:cNvPr id="51" name="Shape 47"/>
          <p:cNvSpPr/>
          <p:nvPr/>
        </p:nvSpPr>
        <p:spPr>
          <a:xfrm>
            <a:off x="3835400" y="1939230"/>
            <a:ext cx="1134517" cy="485725"/>
          </a:xfrm>
          <a:custGeom>
            <a:avLst/>
            <a:gdLst/>
            <a:ahLst/>
            <a:cxnLst/>
            <a:rect l="l" t="t" r="r" b="b"/>
            <a:pathLst>
              <a:path w="1134517" h="485725">
                <a:moveTo>
                  <a:pt x="0" y="0"/>
                </a:moveTo>
                <a:lnTo>
                  <a:pt x="1134517" y="0"/>
                </a:lnTo>
                <a:lnTo>
                  <a:pt x="1134517" y="447625"/>
                </a:lnTo>
                <a:arcTo wR="38100" hR="38100" stAng="0" swAng="5400000"/>
                <a:lnTo>
                  <a:pt x="38100" y="485725"/>
                </a:lnTo>
                <a:arcTo wR="38100" hR="38100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6D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2" name="Shape 48"/>
          <p:cNvSpPr/>
          <p:nvPr/>
        </p:nvSpPr>
        <p:spPr>
          <a:xfrm>
            <a:off x="3835400" y="1939230"/>
            <a:ext cx="1134517" cy="485725"/>
          </a:xfrm>
          <a:custGeom>
            <a:avLst/>
            <a:gdLst/>
            <a:ahLst/>
            <a:cxnLst/>
            <a:rect l="l" t="t" r="r" b="b"/>
            <a:pathLst>
              <a:path w="1134517" h="485725">
                <a:moveTo>
                  <a:pt x="0" y="38100"/>
                </a:moveTo>
                <a:lnTo>
                  <a:pt x="0" y="0"/>
                </a:lnTo>
                <a:lnTo>
                  <a:pt x="1134517" y="0"/>
                </a:lnTo>
                <a:lnTo>
                  <a:pt x="1134517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F2B6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3" name="Text 49"/>
          <p:cNvSpPr/>
          <p:nvPr/>
        </p:nvSpPr>
        <p:spPr>
          <a:xfrm>
            <a:off x="3898900" y="2028130"/>
            <a:ext cx="1058317" cy="1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70"/>
              </a:lnSpc>
              <a:buNone/>
            </a:pPr>
            <a:r>
              <a:rPr lang="en-US" sz="550" b="1" kern="0" spc="100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LÍNEA 1</a:t>
            </a:r>
            <a:endParaRPr lang="en-US" sz="550" dirty="0"/>
          </a:p>
        </p:txBody>
      </p:sp>
      <p:sp>
        <p:nvSpPr>
          <p:cNvPr id="54" name="Text 50"/>
          <p:cNvSpPr/>
          <p:nvPr/>
        </p:nvSpPr>
        <p:spPr>
          <a:xfrm>
            <a:off x="3898900" y="2125911"/>
            <a:ext cx="1058317" cy="2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7"/>
              </a:lnSpc>
              <a:buNone/>
            </a:pPr>
            <a:r>
              <a:rPr lang="en-US" sz="85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Soberanía y eficiencia fiscal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5020717" y="1939230"/>
            <a:ext cx="1134566" cy="485725"/>
          </a:xfrm>
          <a:custGeom>
            <a:avLst/>
            <a:gdLst/>
            <a:ahLst/>
            <a:cxnLst/>
            <a:rect l="l" t="t" r="r" b="b"/>
            <a:pathLst>
              <a:path w="1134566" h="485725">
                <a:moveTo>
                  <a:pt x="0" y="0"/>
                </a:moveTo>
                <a:lnTo>
                  <a:pt x="1134566" y="0"/>
                </a:lnTo>
                <a:lnTo>
                  <a:pt x="1134566" y="447625"/>
                </a:lnTo>
                <a:arcTo wR="38100" hR="38100" stAng="0" swAng="5400000"/>
                <a:lnTo>
                  <a:pt x="38100" y="485725"/>
                </a:lnTo>
                <a:arcTo wR="38100" hR="38100" stAng="5400000" swAng="5400000"/>
                <a:lnTo>
                  <a:pt x="0" y="0"/>
                </a:lnTo>
                <a:close/>
              </a:path>
            </a:pathLst>
          </a:custGeom>
          <a:solidFill>
            <a:srgbClr val="FBECEC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6" name="Shape 52"/>
          <p:cNvSpPr/>
          <p:nvPr/>
        </p:nvSpPr>
        <p:spPr>
          <a:xfrm>
            <a:off x="5020717" y="1939230"/>
            <a:ext cx="1134566" cy="485725"/>
          </a:xfrm>
          <a:custGeom>
            <a:avLst/>
            <a:gdLst/>
            <a:ahLst/>
            <a:cxnLst/>
            <a:rect l="l" t="t" r="r" b="b"/>
            <a:pathLst>
              <a:path w="1134566" h="485725">
                <a:moveTo>
                  <a:pt x="0" y="38100"/>
                </a:moveTo>
                <a:lnTo>
                  <a:pt x="0" y="0"/>
                </a:lnTo>
                <a:lnTo>
                  <a:pt x="1134566" y="0"/>
                </a:lnTo>
                <a:lnTo>
                  <a:pt x="1134566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D01A1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7" name="Text 53"/>
          <p:cNvSpPr/>
          <p:nvPr/>
        </p:nvSpPr>
        <p:spPr>
          <a:xfrm>
            <a:off x="5084217" y="2028130"/>
            <a:ext cx="1058366" cy="1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70"/>
              </a:lnSpc>
              <a:buNone/>
            </a:pPr>
            <a:r>
              <a:rPr lang="en-US" sz="550" b="1" kern="0" spc="100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LÍNEA 2</a:t>
            </a:r>
            <a:endParaRPr lang="en-US" sz="550" dirty="0"/>
          </a:p>
        </p:txBody>
      </p:sp>
      <p:sp>
        <p:nvSpPr>
          <p:cNvPr id="58" name="Text 54"/>
          <p:cNvSpPr/>
          <p:nvPr/>
        </p:nvSpPr>
        <p:spPr>
          <a:xfrm>
            <a:off x="5084217" y="2125911"/>
            <a:ext cx="1058366" cy="2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7"/>
              </a:lnSpc>
              <a:buNone/>
            </a:pPr>
            <a:r>
              <a:rPr lang="en-US" sz="85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Cero impunidad fiscal</a:t>
            </a:r>
            <a:endParaRPr lang="en-US" sz="850" dirty="0"/>
          </a:p>
        </p:txBody>
      </p:sp>
      <p:sp>
        <p:nvSpPr>
          <p:cNvPr id="59" name="Shape 55"/>
          <p:cNvSpPr/>
          <p:nvPr/>
        </p:nvSpPr>
        <p:spPr>
          <a:xfrm>
            <a:off x="6206083" y="1939230"/>
            <a:ext cx="1134517" cy="485725"/>
          </a:xfrm>
          <a:custGeom>
            <a:avLst/>
            <a:gdLst/>
            <a:ahLst/>
            <a:cxnLst/>
            <a:rect l="l" t="t" r="r" b="b"/>
            <a:pathLst>
              <a:path w="1134517" h="485725">
                <a:moveTo>
                  <a:pt x="0" y="0"/>
                </a:moveTo>
                <a:lnTo>
                  <a:pt x="1134517" y="0"/>
                </a:lnTo>
                <a:lnTo>
                  <a:pt x="1134517" y="447625"/>
                </a:lnTo>
                <a:arcTo wR="38100" hR="38100" stAng="0" swAng="5400000"/>
                <a:lnTo>
                  <a:pt x="38100" y="485725"/>
                </a:lnTo>
                <a:arcTo wR="38100" hR="38100" stAng="5400000" swAng="5400000"/>
                <a:lnTo>
                  <a:pt x="0" y="0"/>
                </a:lnTo>
                <a:close/>
              </a:path>
            </a:pathLst>
          </a:custGeom>
          <a:solidFill>
            <a:srgbClr val="EAF0FA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0" name="Shape 56"/>
          <p:cNvSpPr/>
          <p:nvPr/>
        </p:nvSpPr>
        <p:spPr>
          <a:xfrm>
            <a:off x="6206083" y="1939230"/>
            <a:ext cx="1134517" cy="485725"/>
          </a:xfrm>
          <a:custGeom>
            <a:avLst/>
            <a:gdLst/>
            <a:ahLst/>
            <a:cxnLst/>
            <a:rect l="l" t="t" r="r" b="b"/>
            <a:pathLst>
              <a:path w="1134517" h="485725">
                <a:moveTo>
                  <a:pt x="0" y="38100"/>
                </a:moveTo>
                <a:lnTo>
                  <a:pt x="0" y="0"/>
                </a:lnTo>
                <a:lnTo>
                  <a:pt x="1134517" y="0"/>
                </a:lnTo>
                <a:lnTo>
                  <a:pt x="1134517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26529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1" name="Text 57"/>
          <p:cNvSpPr/>
          <p:nvPr/>
        </p:nvSpPr>
        <p:spPr>
          <a:xfrm>
            <a:off x="6269583" y="2028130"/>
            <a:ext cx="1058317" cy="1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70"/>
              </a:lnSpc>
              <a:buNone/>
            </a:pPr>
            <a:r>
              <a:rPr lang="en-US" sz="550" b="1" kern="0" spc="100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LÍNEA 3</a:t>
            </a:r>
            <a:endParaRPr lang="en-US" sz="550" dirty="0"/>
          </a:p>
        </p:txBody>
      </p:sp>
      <p:sp>
        <p:nvSpPr>
          <p:cNvPr id="62" name="Text 58"/>
          <p:cNvSpPr/>
          <p:nvPr/>
        </p:nvSpPr>
        <p:spPr>
          <a:xfrm>
            <a:off x="6269583" y="2125911"/>
            <a:ext cx="1058317" cy="273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7"/>
              </a:lnSpc>
              <a:buNone/>
            </a:pPr>
            <a:r>
              <a:rPr lang="en-US" sz="85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Descentralización del control</a:t>
            </a:r>
            <a:endParaRPr lang="en-US" sz="850" dirty="0"/>
          </a:p>
        </p:txBody>
      </p:sp>
      <p:sp>
        <p:nvSpPr>
          <p:cNvPr id="63" name="Shape 59"/>
          <p:cNvSpPr/>
          <p:nvPr/>
        </p:nvSpPr>
        <p:spPr>
          <a:xfrm>
            <a:off x="3835400" y="2488456"/>
            <a:ext cx="3505200" cy="361603"/>
          </a:xfrm>
          <a:custGeom>
            <a:avLst/>
            <a:gdLst/>
            <a:ahLst/>
            <a:cxnLst/>
            <a:rect l="l" t="t" r="r" b="b"/>
            <a:pathLst>
              <a:path w="3505200" h="361603">
                <a:moveTo>
                  <a:pt x="0" y="0"/>
                </a:moveTo>
                <a:lnTo>
                  <a:pt x="3505200" y="0"/>
                </a:lnTo>
                <a:lnTo>
                  <a:pt x="3505200" y="323503"/>
                </a:lnTo>
                <a:arcTo wR="38100" hR="38100" stAng="0" swAng="5400000"/>
                <a:lnTo>
                  <a:pt x="38100" y="361603"/>
                </a:lnTo>
                <a:arcTo wR="38100" hR="38100" stAng="5400000" swAng="5400000"/>
                <a:lnTo>
                  <a:pt x="0" y="0"/>
                </a:lnTo>
                <a:close/>
              </a:path>
            </a:pathLst>
          </a:custGeom>
          <a:solidFill>
            <a:srgbClr val="EEF1F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4" name="Shape 60"/>
          <p:cNvSpPr/>
          <p:nvPr/>
        </p:nvSpPr>
        <p:spPr>
          <a:xfrm>
            <a:off x="3835400" y="2488456"/>
            <a:ext cx="3505200" cy="361603"/>
          </a:xfrm>
          <a:custGeom>
            <a:avLst/>
            <a:gdLst/>
            <a:ahLst/>
            <a:cxnLst/>
            <a:rect l="l" t="t" r="r" b="b"/>
            <a:pathLst>
              <a:path w="3505200" h="361603">
                <a:moveTo>
                  <a:pt x="0" y="38100"/>
                </a:moveTo>
                <a:lnTo>
                  <a:pt x="0" y="0"/>
                </a:lnTo>
                <a:lnTo>
                  <a:pt x="3505200" y="0"/>
                </a:lnTo>
                <a:lnTo>
                  <a:pt x="35052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7A8AA6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5" name="Text 61"/>
          <p:cNvSpPr/>
          <p:nvPr/>
        </p:nvSpPr>
        <p:spPr>
          <a:xfrm>
            <a:off x="3848227" y="2577356"/>
            <a:ext cx="3479546" cy="1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550" b="1" kern="0" spc="100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TRANSVERSAL</a:t>
            </a:r>
            <a:endParaRPr lang="en-US" sz="550" dirty="0"/>
          </a:p>
        </p:txBody>
      </p:sp>
      <p:sp>
        <p:nvSpPr>
          <p:cNvPr id="66" name="Text 62"/>
          <p:cNvSpPr/>
          <p:nvPr/>
        </p:nvSpPr>
        <p:spPr>
          <a:xfrm>
            <a:off x="3848227" y="2675136"/>
            <a:ext cx="3479546" cy="149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977"/>
              </a:lnSpc>
              <a:buNone/>
            </a:pPr>
            <a:r>
              <a:rPr lang="en-US" sz="85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Humanización y control ciudadano</a:t>
            </a:r>
            <a:endParaRPr lang="en-US" sz="850" dirty="0"/>
          </a:p>
        </p:txBody>
      </p:sp>
      <p:sp>
        <p:nvSpPr>
          <p:cNvPr id="67" name="Text 63"/>
          <p:cNvSpPr/>
          <p:nvPr/>
        </p:nvSpPr>
        <p:spPr>
          <a:xfrm>
            <a:off x="3835400" y="2913559"/>
            <a:ext cx="3610356" cy="132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b="1" kern="0" spc="150" dirty="0">
                <a:solidFill>
                  <a:srgbClr val="F2B6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PRODUCTOS Y SERVICIOS</a:t>
            </a:r>
            <a:endParaRPr lang="en-US" sz="600" dirty="0"/>
          </a:p>
        </p:txBody>
      </p:sp>
      <p:sp>
        <p:nvSpPr>
          <p:cNvPr id="68" name="Shape 64"/>
          <p:cNvSpPr/>
          <p:nvPr/>
        </p:nvSpPr>
        <p:spPr>
          <a:xfrm>
            <a:off x="3835400" y="3086894"/>
            <a:ext cx="3505200" cy="0"/>
          </a:xfrm>
          <a:prstGeom prst="line">
            <a:avLst/>
          </a:prstGeom>
          <a:noFill/>
          <a:ln w="6350">
            <a:solidFill>
              <a:srgbClr val="2B4A7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9" name="Shape 65"/>
          <p:cNvSpPr/>
          <p:nvPr/>
        </p:nvSpPr>
        <p:spPr>
          <a:xfrm>
            <a:off x="3835400" y="3158629"/>
            <a:ext cx="76200" cy="76200"/>
          </a:xfrm>
          <a:prstGeom prst="roundRect">
            <a:avLst>
              <a:gd name="adj" fmla="val 16667"/>
            </a:avLst>
          </a:prstGeom>
          <a:solidFill>
            <a:srgbClr val="F2B6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0" name="Text 66"/>
          <p:cNvSpPr/>
          <p:nvPr/>
        </p:nvSpPr>
        <p:spPr>
          <a:xfrm>
            <a:off x="3987800" y="3128169"/>
            <a:ext cx="1464866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Plataforma de datos fiscales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3835400" y="3331964"/>
            <a:ext cx="3505200" cy="0"/>
          </a:xfrm>
          <a:prstGeom prst="line">
            <a:avLst/>
          </a:prstGeom>
          <a:noFill/>
          <a:ln w="6350">
            <a:solidFill>
              <a:srgbClr val="2B4A7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2" name="Shape 68"/>
          <p:cNvSpPr/>
          <p:nvPr/>
        </p:nvSpPr>
        <p:spPr>
          <a:xfrm>
            <a:off x="3835400" y="3403699"/>
            <a:ext cx="76200" cy="76200"/>
          </a:xfrm>
          <a:prstGeom prst="roundRect">
            <a:avLst>
              <a:gd name="adj" fmla="val 16667"/>
            </a:avLst>
          </a:prstGeom>
          <a:solidFill>
            <a:srgbClr val="F2B6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3" name="Text 69"/>
          <p:cNvSpPr/>
          <p:nvPr/>
        </p:nvSpPr>
        <p:spPr>
          <a:xfrm>
            <a:off x="3987800" y="3373239"/>
            <a:ext cx="1655514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Tablero de gestión institucional </a:t>
            </a:r>
            <a:endParaRPr lang="en-US" sz="900" dirty="0"/>
          </a:p>
        </p:txBody>
      </p:sp>
      <p:sp>
        <p:nvSpPr>
          <p:cNvPr id="74" name="Shape 70"/>
          <p:cNvSpPr/>
          <p:nvPr/>
        </p:nvSpPr>
        <p:spPr>
          <a:xfrm>
            <a:off x="3835400" y="3577034"/>
            <a:ext cx="3505200" cy="0"/>
          </a:xfrm>
          <a:prstGeom prst="line">
            <a:avLst/>
          </a:prstGeom>
          <a:noFill/>
          <a:ln w="6350">
            <a:solidFill>
              <a:srgbClr val="2B4A7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5" name="Shape 71"/>
          <p:cNvSpPr/>
          <p:nvPr/>
        </p:nvSpPr>
        <p:spPr>
          <a:xfrm>
            <a:off x="3835400" y="3648770"/>
            <a:ext cx="76200" cy="76200"/>
          </a:xfrm>
          <a:prstGeom prst="roundRect">
            <a:avLst>
              <a:gd name="adj" fmla="val 16667"/>
            </a:avLst>
          </a:prstGeom>
          <a:solidFill>
            <a:srgbClr val="F2B6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6" name="Text 72"/>
          <p:cNvSpPr/>
          <p:nvPr/>
        </p:nvSpPr>
        <p:spPr>
          <a:xfrm>
            <a:off x="3987800" y="3618309"/>
            <a:ext cx="2255093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Sistema de responsabilidad fiscal y recaudo</a:t>
            </a:r>
            <a:endParaRPr lang="en-US" sz="900" dirty="0"/>
          </a:p>
        </p:txBody>
      </p:sp>
      <p:sp>
        <p:nvSpPr>
          <p:cNvPr id="77" name="Shape 73"/>
          <p:cNvSpPr/>
          <p:nvPr/>
        </p:nvSpPr>
        <p:spPr>
          <a:xfrm>
            <a:off x="3835400" y="3822105"/>
            <a:ext cx="3505200" cy="0"/>
          </a:xfrm>
          <a:prstGeom prst="line">
            <a:avLst/>
          </a:prstGeom>
          <a:noFill/>
          <a:ln w="6350">
            <a:solidFill>
              <a:srgbClr val="2B4A7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8" name="Shape 74"/>
          <p:cNvSpPr/>
          <p:nvPr/>
        </p:nvSpPr>
        <p:spPr>
          <a:xfrm>
            <a:off x="3835400" y="3893840"/>
            <a:ext cx="76200" cy="76200"/>
          </a:xfrm>
          <a:prstGeom prst="roundRect">
            <a:avLst>
              <a:gd name="adj" fmla="val 16667"/>
            </a:avLst>
          </a:prstGeom>
          <a:solidFill>
            <a:srgbClr val="F2B6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9" name="Text 75"/>
          <p:cNvSpPr/>
          <p:nvPr/>
        </p:nvSpPr>
        <p:spPr>
          <a:xfrm>
            <a:off x="3987800" y="3863380"/>
            <a:ext cx="1563737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Tablero territorial y Geoportal</a:t>
            </a:r>
            <a:endParaRPr lang="en-US" sz="900" dirty="0"/>
          </a:p>
        </p:txBody>
      </p:sp>
      <p:sp>
        <p:nvSpPr>
          <p:cNvPr id="80" name="Shape 76"/>
          <p:cNvSpPr/>
          <p:nvPr/>
        </p:nvSpPr>
        <p:spPr>
          <a:xfrm>
            <a:off x="3835400" y="4067175"/>
            <a:ext cx="3505200" cy="0"/>
          </a:xfrm>
          <a:prstGeom prst="line">
            <a:avLst/>
          </a:prstGeom>
          <a:noFill/>
          <a:ln w="6350">
            <a:solidFill>
              <a:srgbClr val="2B4A7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81" name="Shape 77"/>
          <p:cNvSpPr/>
          <p:nvPr/>
        </p:nvSpPr>
        <p:spPr>
          <a:xfrm>
            <a:off x="3835400" y="4138910"/>
            <a:ext cx="76200" cy="76200"/>
          </a:xfrm>
          <a:prstGeom prst="roundRect">
            <a:avLst>
              <a:gd name="adj" fmla="val 16667"/>
            </a:avLst>
          </a:prstGeom>
          <a:solidFill>
            <a:srgbClr val="F2B6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2" name="Text 78"/>
          <p:cNvSpPr/>
          <p:nvPr/>
        </p:nvSpPr>
        <p:spPr>
          <a:xfrm>
            <a:off x="3987800" y="4108450"/>
            <a:ext cx="1545233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Ventanilla única de denuncias</a:t>
            </a:r>
            <a:endParaRPr lang="en-US" sz="900" dirty="0"/>
          </a:p>
        </p:txBody>
      </p:sp>
      <p:sp>
        <p:nvSpPr>
          <p:cNvPr id="83" name="Shape 79"/>
          <p:cNvSpPr/>
          <p:nvPr/>
        </p:nvSpPr>
        <p:spPr>
          <a:xfrm>
            <a:off x="3835400" y="4312245"/>
            <a:ext cx="3505200" cy="0"/>
          </a:xfrm>
          <a:prstGeom prst="line">
            <a:avLst/>
          </a:prstGeom>
          <a:noFill/>
          <a:ln w="6350">
            <a:solidFill>
              <a:srgbClr val="2B4A7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84" name="Shape 80"/>
          <p:cNvSpPr/>
          <p:nvPr/>
        </p:nvSpPr>
        <p:spPr>
          <a:xfrm>
            <a:off x="3835400" y="4383980"/>
            <a:ext cx="76200" cy="76200"/>
          </a:xfrm>
          <a:prstGeom prst="roundRect">
            <a:avLst>
              <a:gd name="adj" fmla="val 16667"/>
            </a:avLst>
          </a:prstGeom>
          <a:solidFill>
            <a:srgbClr val="F2B6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5" name="Text 81"/>
          <p:cNvSpPr/>
          <p:nvPr/>
        </p:nvSpPr>
        <p:spPr>
          <a:xfrm>
            <a:off x="3987800" y="4353520"/>
            <a:ext cx="180410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Sistema de seguimiento ciudadano</a:t>
            </a:r>
            <a:endParaRPr lang="en-US" sz="900" dirty="0"/>
          </a:p>
        </p:txBody>
      </p:sp>
      <p:sp>
        <p:nvSpPr>
          <p:cNvPr id="86" name="Shape 82"/>
          <p:cNvSpPr/>
          <p:nvPr/>
        </p:nvSpPr>
        <p:spPr>
          <a:xfrm>
            <a:off x="3835400" y="4557316"/>
            <a:ext cx="3505200" cy="0"/>
          </a:xfrm>
          <a:prstGeom prst="line">
            <a:avLst/>
          </a:prstGeom>
          <a:noFill/>
          <a:ln w="6350">
            <a:solidFill>
              <a:srgbClr val="2B4A7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87" name="Shape 83"/>
          <p:cNvSpPr/>
          <p:nvPr/>
        </p:nvSpPr>
        <p:spPr>
          <a:xfrm>
            <a:off x="3835400" y="4629051"/>
            <a:ext cx="76200" cy="76200"/>
          </a:xfrm>
          <a:prstGeom prst="roundRect">
            <a:avLst>
              <a:gd name="adj" fmla="val 16667"/>
            </a:avLst>
          </a:prstGeom>
          <a:solidFill>
            <a:srgbClr val="F2B6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8" name="Text 84"/>
          <p:cNvSpPr/>
          <p:nvPr/>
        </p:nvSpPr>
        <p:spPr>
          <a:xfrm>
            <a:off x="3987800" y="4598591"/>
            <a:ext cx="202500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Escuela Nacional de Control Ciudadano</a:t>
            </a:r>
            <a:endParaRPr lang="en-US" sz="900" dirty="0"/>
          </a:p>
        </p:txBody>
      </p:sp>
      <p:sp>
        <p:nvSpPr>
          <p:cNvPr id="89" name="Shape 85"/>
          <p:cNvSpPr/>
          <p:nvPr/>
        </p:nvSpPr>
        <p:spPr>
          <a:xfrm>
            <a:off x="3835400" y="4802386"/>
            <a:ext cx="3505200" cy="0"/>
          </a:xfrm>
          <a:prstGeom prst="line">
            <a:avLst/>
          </a:prstGeom>
          <a:noFill/>
          <a:ln w="6350">
            <a:solidFill>
              <a:srgbClr val="2B4A7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90" name="Shape 86"/>
          <p:cNvSpPr/>
          <p:nvPr/>
        </p:nvSpPr>
        <p:spPr>
          <a:xfrm>
            <a:off x="3835400" y="4874121"/>
            <a:ext cx="76200" cy="76200"/>
          </a:xfrm>
          <a:prstGeom prst="roundRect">
            <a:avLst>
              <a:gd name="adj" fmla="val 16667"/>
            </a:avLst>
          </a:prstGeom>
          <a:solidFill>
            <a:srgbClr val="F2B6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1" name="Text 87"/>
          <p:cNvSpPr/>
          <p:nvPr/>
        </p:nvSpPr>
        <p:spPr>
          <a:xfrm>
            <a:off x="3987800" y="4843661"/>
            <a:ext cx="281829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Alertas preventivas para las oficinas de control interno</a:t>
            </a:r>
            <a:endParaRPr lang="en-US" sz="900" dirty="0"/>
          </a:p>
        </p:txBody>
      </p:sp>
      <p:sp>
        <p:nvSpPr>
          <p:cNvPr id="92" name="Text 88"/>
          <p:cNvSpPr/>
          <p:nvPr/>
        </p:nvSpPr>
        <p:spPr>
          <a:xfrm>
            <a:off x="3835400" y="5044281"/>
            <a:ext cx="3610356" cy="132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b="1" kern="0" spc="150" dirty="0">
                <a:solidFill>
                  <a:srgbClr val="F2B6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HABILITADORES</a:t>
            </a:r>
            <a:endParaRPr lang="en-US" sz="600" dirty="0"/>
          </a:p>
        </p:txBody>
      </p:sp>
      <p:sp>
        <p:nvSpPr>
          <p:cNvPr id="93" name="Shape 89"/>
          <p:cNvSpPr/>
          <p:nvPr/>
        </p:nvSpPr>
        <p:spPr>
          <a:xfrm>
            <a:off x="3835400" y="5214441"/>
            <a:ext cx="628650" cy="457200"/>
          </a:xfrm>
          <a:prstGeom prst="roundRect">
            <a:avLst>
              <a:gd name="adj" fmla="val 8333"/>
            </a:avLst>
          </a:prstGeom>
          <a:solidFill>
            <a:srgbClr val="F2B6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4" name="Text 90"/>
          <p:cNvSpPr/>
          <p:nvPr/>
        </p:nvSpPr>
        <p:spPr>
          <a:xfrm>
            <a:off x="3860800" y="5290641"/>
            <a:ext cx="577850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Experticia técnica</a:t>
            </a:r>
            <a:endParaRPr lang="en-US" sz="900" dirty="0"/>
          </a:p>
        </p:txBody>
      </p:sp>
      <p:sp>
        <p:nvSpPr>
          <p:cNvPr id="95" name="Shape 91"/>
          <p:cNvSpPr/>
          <p:nvPr/>
        </p:nvSpPr>
        <p:spPr>
          <a:xfrm>
            <a:off x="4514850" y="5214441"/>
            <a:ext cx="736600" cy="457200"/>
          </a:xfrm>
          <a:prstGeom prst="roundRect">
            <a:avLst>
              <a:gd name="adj" fmla="val 8333"/>
            </a:avLst>
          </a:prstGeom>
          <a:solidFill>
            <a:srgbClr val="F2B6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6" name="Text 92"/>
          <p:cNvSpPr/>
          <p:nvPr/>
        </p:nvSpPr>
        <p:spPr>
          <a:xfrm>
            <a:off x="4540250" y="5290641"/>
            <a:ext cx="685800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Inteligencia artificial</a:t>
            </a:r>
            <a:endParaRPr lang="en-US" sz="900" dirty="0"/>
          </a:p>
        </p:txBody>
      </p:sp>
      <p:sp>
        <p:nvSpPr>
          <p:cNvPr id="97" name="Shape 93"/>
          <p:cNvSpPr/>
          <p:nvPr/>
        </p:nvSpPr>
        <p:spPr>
          <a:xfrm>
            <a:off x="5302250" y="5214441"/>
            <a:ext cx="1212850" cy="457200"/>
          </a:xfrm>
          <a:prstGeom prst="roundRect">
            <a:avLst>
              <a:gd name="adj" fmla="val 8333"/>
            </a:avLst>
          </a:prstGeom>
          <a:solidFill>
            <a:srgbClr val="F2B6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8" name="Text 94"/>
          <p:cNvSpPr/>
          <p:nvPr/>
        </p:nvSpPr>
        <p:spPr>
          <a:xfrm>
            <a:off x="5327650" y="5290641"/>
            <a:ext cx="1162050" cy="156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Interoperabilidad</a:t>
            </a:r>
            <a:endParaRPr lang="en-US" sz="900" dirty="0"/>
          </a:p>
        </p:txBody>
      </p:sp>
      <p:sp>
        <p:nvSpPr>
          <p:cNvPr id="99" name="Shape 95"/>
          <p:cNvSpPr/>
          <p:nvPr/>
        </p:nvSpPr>
        <p:spPr>
          <a:xfrm>
            <a:off x="6565900" y="5214441"/>
            <a:ext cx="774700" cy="457200"/>
          </a:xfrm>
          <a:prstGeom prst="roundRect">
            <a:avLst>
              <a:gd name="adj" fmla="val 8333"/>
            </a:avLst>
          </a:prstGeom>
          <a:solidFill>
            <a:srgbClr val="F2B6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00" name="Text 96"/>
          <p:cNvSpPr/>
          <p:nvPr/>
        </p:nvSpPr>
        <p:spPr>
          <a:xfrm>
            <a:off x="6591300" y="5290641"/>
            <a:ext cx="723900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Gobernanza de Datos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3835400" y="5735141"/>
            <a:ext cx="1134517" cy="415230"/>
          </a:xfrm>
          <a:prstGeom prst="roundRect">
            <a:avLst>
              <a:gd name="adj" fmla="val 9176"/>
            </a:avLst>
          </a:prstGeom>
          <a:solidFill>
            <a:srgbClr val="F2B6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02" name="Text 98"/>
          <p:cNvSpPr/>
          <p:nvPr/>
        </p:nvSpPr>
        <p:spPr>
          <a:xfrm>
            <a:off x="3860800" y="5811341"/>
            <a:ext cx="1083717" cy="156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Marco normativo</a:t>
            </a:r>
            <a:endParaRPr lang="en-US" sz="900" dirty="0"/>
          </a:p>
        </p:txBody>
      </p:sp>
      <p:sp>
        <p:nvSpPr>
          <p:cNvPr id="103" name="Shape 99"/>
          <p:cNvSpPr/>
          <p:nvPr/>
        </p:nvSpPr>
        <p:spPr>
          <a:xfrm>
            <a:off x="5020717" y="5735141"/>
            <a:ext cx="1134566" cy="415230"/>
          </a:xfrm>
          <a:prstGeom prst="roundRect">
            <a:avLst>
              <a:gd name="adj" fmla="val 9176"/>
            </a:avLst>
          </a:prstGeom>
          <a:solidFill>
            <a:srgbClr val="F2B6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04" name="Text 100"/>
          <p:cNvSpPr/>
          <p:nvPr/>
        </p:nvSpPr>
        <p:spPr>
          <a:xfrm>
            <a:off x="5046117" y="5811341"/>
            <a:ext cx="1083766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Tecnologias Digitales</a:t>
            </a:r>
            <a:endParaRPr lang="en-US" sz="900" dirty="0"/>
          </a:p>
        </p:txBody>
      </p:sp>
      <p:sp>
        <p:nvSpPr>
          <p:cNvPr id="105" name="Shape 101"/>
          <p:cNvSpPr/>
          <p:nvPr/>
        </p:nvSpPr>
        <p:spPr>
          <a:xfrm>
            <a:off x="6206083" y="5735141"/>
            <a:ext cx="1134517" cy="415230"/>
          </a:xfrm>
          <a:prstGeom prst="roundRect">
            <a:avLst>
              <a:gd name="adj" fmla="val 9176"/>
            </a:avLst>
          </a:prstGeom>
          <a:solidFill>
            <a:srgbClr val="F2B6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06" name="Text 102"/>
          <p:cNvSpPr/>
          <p:nvPr/>
        </p:nvSpPr>
        <p:spPr>
          <a:xfrm>
            <a:off x="6231483" y="5811341"/>
            <a:ext cx="1083717" cy="156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Uso y apropiación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7750175" y="866775"/>
            <a:ext cx="4184650" cy="4253061"/>
          </a:xfrm>
          <a:prstGeom prst="roundRect">
            <a:avLst>
              <a:gd name="adj" fmla="val 1442"/>
            </a:avLst>
          </a:prstGeom>
          <a:solidFill>
            <a:srgbClr val="F6F8FB"/>
          </a:solidFill>
          <a:ln w="635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8" name="Text 104"/>
          <p:cNvSpPr/>
          <p:nvPr/>
        </p:nvSpPr>
        <p:spPr>
          <a:xfrm>
            <a:off x="7854950" y="971550"/>
            <a:ext cx="4094353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Usuarios</a:t>
            </a:r>
            <a:endParaRPr lang="en-US" sz="1200" dirty="0"/>
          </a:p>
        </p:txBody>
      </p:sp>
      <p:sp>
        <p:nvSpPr>
          <p:cNvPr id="109" name="Shape 105"/>
          <p:cNvSpPr/>
          <p:nvPr/>
        </p:nvSpPr>
        <p:spPr>
          <a:xfrm>
            <a:off x="7858125" y="1226145"/>
            <a:ext cx="3968750" cy="368300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10" name="Text 106"/>
          <p:cNvSpPr/>
          <p:nvPr/>
        </p:nvSpPr>
        <p:spPr>
          <a:xfrm>
            <a:off x="7937500" y="1345505"/>
            <a:ext cx="1574800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Despacho del Contralor</a:t>
            </a:r>
            <a:endParaRPr lang="en-US" sz="850" dirty="0"/>
          </a:p>
        </p:txBody>
      </p:sp>
      <p:sp>
        <p:nvSpPr>
          <p:cNvPr id="111" name="Text 107"/>
          <p:cNvSpPr/>
          <p:nvPr/>
        </p:nvSpPr>
        <p:spPr>
          <a:xfrm>
            <a:off x="9537700" y="1286470"/>
            <a:ext cx="227609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4A57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Tablero de gestión, priorización de riesgos, sala de crisis, seguimiento de compromisos</a:t>
            </a:r>
            <a:endParaRPr lang="en-US" sz="750" dirty="0"/>
          </a:p>
        </p:txBody>
      </p:sp>
      <p:sp>
        <p:nvSpPr>
          <p:cNvPr id="112" name="Shape 108"/>
          <p:cNvSpPr/>
          <p:nvPr/>
        </p:nvSpPr>
        <p:spPr>
          <a:xfrm>
            <a:off x="7858125" y="1638895"/>
            <a:ext cx="3968750" cy="379710"/>
          </a:xfrm>
          <a:prstGeom prst="roundRect">
            <a:avLst>
              <a:gd name="adj" fmla="val 9198"/>
            </a:avLst>
          </a:prstGeom>
          <a:solidFill>
            <a:srgbClr val="FFFFFF"/>
          </a:solidFill>
          <a:ln w="635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13" name="Text 109"/>
          <p:cNvSpPr/>
          <p:nvPr/>
        </p:nvSpPr>
        <p:spPr>
          <a:xfrm>
            <a:off x="7937500" y="1699220"/>
            <a:ext cx="157480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Contralorías delegadas y auditores</a:t>
            </a:r>
            <a:endParaRPr lang="en-US" sz="850" dirty="0"/>
          </a:p>
        </p:txBody>
      </p:sp>
      <p:sp>
        <p:nvSpPr>
          <p:cNvPr id="114" name="Text 110"/>
          <p:cNvSpPr/>
          <p:nvPr/>
        </p:nvSpPr>
        <p:spPr>
          <a:xfrm>
            <a:off x="9537700" y="1704925"/>
            <a:ext cx="227609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4A57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Alertas tempranas, base de conocimiento del daño fiscal, expediente</a:t>
            </a:r>
            <a:endParaRPr lang="en-US" sz="750" dirty="0"/>
          </a:p>
        </p:txBody>
      </p:sp>
      <p:sp>
        <p:nvSpPr>
          <p:cNvPr id="115" name="Shape 111"/>
          <p:cNvSpPr/>
          <p:nvPr/>
        </p:nvSpPr>
        <p:spPr>
          <a:xfrm>
            <a:off x="7858125" y="2063055"/>
            <a:ext cx="3968750" cy="368300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16" name="Text 112"/>
          <p:cNvSpPr/>
          <p:nvPr/>
        </p:nvSpPr>
        <p:spPr>
          <a:xfrm>
            <a:off x="7937500" y="2182416"/>
            <a:ext cx="1574800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Gerencias departamentales</a:t>
            </a:r>
            <a:endParaRPr lang="en-US" sz="850" dirty="0"/>
          </a:p>
        </p:txBody>
      </p:sp>
      <p:sp>
        <p:nvSpPr>
          <p:cNvPr id="117" name="Text 113"/>
          <p:cNvSpPr/>
          <p:nvPr/>
        </p:nvSpPr>
        <p:spPr>
          <a:xfrm>
            <a:off x="9537700" y="2123380"/>
            <a:ext cx="227609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4A57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Tablero de SGP y regalías, Geoportal, analítica de la DIARI</a:t>
            </a:r>
            <a:endParaRPr lang="en-US" sz="750" dirty="0"/>
          </a:p>
        </p:txBody>
      </p:sp>
      <p:sp>
        <p:nvSpPr>
          <p:cNvPr id="118" name="Shape 114"/>
          <p:cNvSpPr/>
          <p:nvPr/>
        </p:nvSpPr>
        <p:spPr>
          <a:xfrm>
            <a:off x="7858125" y="2475805"/>
            <a:ext cx="3968750" cy="379710"/>
          </a:xfrm>
          <a:prstGeom prst="roundRect">
            <a:avLst>
              <a:gd name="adj" fmla="val 9198"/>
            </a:avLst>
          </a:prstGeom>
          <a:solidFill>
            <a:srgbClr val="FFFFFF"/>
          </a:solidFill>
          <a:ln w="635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19" name="Text 115"/>
          <p:cNvSpPr/>
          <p:nvPr/>
        </p:nvSpPr>
        <p:spPr>
          <a:xfrm>
            <a:off x="7937500" y="2536130"/>
            <a:ext cx="157480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Responsabilidad fiscal, cobro coactivo.</a:t>
            </a:r>
            <a:endParaRPr lang="en-US" sz="850" dirty="0"/>
          </a:p>
        </p:txBody>
      </p:sp>
      <p:sp>
        <p:nvSpPr>
          <p:cNvPr id="120" name="Text 116"/>
          <p:cNvSpPr/>
          <p:nvPr/>
        </p:nvSpPr>
        <p:spPr>
          <a:xfrm>
            <a:off x="9537700" y="2541836"/>
            <a:ext cx="227609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4A57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Alerta de prescripción, expediente probatorio, cobro conectado</a:t>
            </a:r>
            <a:endParaRPr lang="en-US" sz="750" dirty="0"/>
          </a:p>
        </p:txBody>
      </p:sp>
      <p:sp>
        <p:nvSpPr>
          <p:cNvPr id="121" name="Shape 117"/>
          <p:cNvSpPr/>
          <p:nvPr/>
        </p:nvSpPr>
        <p:spPr>
          <a:xfrm>
            <a:off x="7858125" y="2899966"/>
            <a:ext cx="3968750" cy="379710"/>
          </a:xfrm>
          <a:prstGeom prst="roundRect">
            <a:avLst>
              <a:gd name="adj" fmla="val 9198"/>
            </a:avLst>
          </a:prstGeom>
          <a:solidFill>
            <a:srgbClr val="FFFFFF"/>
          </a:solidFill>
          <a:ln w="635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2" name="Text 118"/>
          <p:cNvSpPr/>
          <p:nvPr/>
        </p:nvSpPr>
        <p:spPr>
          <a:xfrm>
            <a:off x="7937500" y="2960291"/>
            <a:ext cx="157480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Oficinas de control interno de las entidades</a:t>
            </a:r>
            <a:endParaRPr lang="en-US" sz="850" dirty="0"/>
          </a:p>
        </p:txBody>
      </p:sp>
      <p:sp>
        <p:nvSpPr>
          <p:cNvPr id="123" name="Text 119"/>
          <p:cNvSpPr/>
          <p:nvPr/>
        </p:nvSpPr>
        <p:spPr>
          <a:xfrm>
            <a:off x="9537700" y="2965996"/>
            <a:ext cx="227609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4A57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Alertas preventivas, modelo de control fiscal interno, índice anual</a:t>
            </a:r>
            <a:endParaRPr lang="en-US" sz="750" dirty="0"/>
          </a:p>
        </p:txBody>
      </p:sp>
      <p:sp>
        <p:nvSpPr>
          <p:cNvPr id="124" name="Shape 120"/>
          <p:cNvSpPr/>
          <p:nvPr/>
        </p:nvSpPr>
        <p:spPr>
          <a:xfrm>
            <a:off x="7858125" y="3324126"/>
            <a:ext cx="3968750" cy="250180"/>
          </a:xfrm>
          <a:prstGeom prst="roundRect">
            <a:avLst>
              <a:gd name="adj" fmla="val 13960"/>
            </a:avLst>
          </a:prstGeom>
          <a:solidFill>
            <a:srgbClr val="FFFFFF"/>
          </a:solidFill>
          <a:ln w="635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5" name="Text 121"/>
          <p:cNvSpPr/>
          <p:nvPr/>
        </p:nvSpPr>
        <p:spPr>
          <a:xfrm>
            <a:off x="7937500" y="3384451"/>
            <a:ext cx="1574800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Contralorías territoriales</a:t>
            </a:r>
            <a:endParaRPr lang="en-US" sz="850" dirty="0"/>
          </a:p>
        </p:txBody>
      </p:sp>
      <p:sp>
        <p:nvSpPr>
          <p:cNvPr id="126" name="Text 122"/>
          <p:cNvSpPr/>
          <p:nvPr/>
        </p:nvSpPr>
        <p:spPr>
          <a:xfrm>
            <a:off x="9537700" y="3387279"/>
            <a:ext cx="1688852" cy="14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4A57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Datos fiscales, analítica y ventanilla única</a:t>
            </a:r>
            <a:endParaRPr lang="en-US" sz="750" dirty="0"/>
          </a:p>
        </p:txBody>
      </p:sp>
      <p:sp>
        <p:nvSpPr>
          <p:cNvPr id="127" name="Shape 123"/>
          <p:cNvSpPr/>
          <p:nvPr/>
        </p:nvSpPr>
        <p:spPr>
          <a:xfrm>
            <a:off x="7858125" y="3618756"/>
            <a:ext cx="3968750" cy="250180"/>
          </a:xfrm>
          <a:prstGeom prst="roundRect">
            <a:avLst>
              <a:gd name="adj" fmla="val 13960"/>
            </a:avLst>
          </a:prstGeom>
          <a:solidFill>
            <a:srgbClr val="FFFFFF"/>
          </a:solidFill>
          <a:ln w="635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8" name="Text 124"/>
          <p:cNvSpPr/>
          <p:nvPr/>
        </p:nvSpPr>
        <p:spPr>
          <a:xfrm>
            <a:off x="7937500" y="3679081"/>
            <a:ext cx="1574800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Fiscalía y Procuraduría</a:t>
            </a:r>
            <a:endParaRPr lang="en-US" sz="850" dirty="0"/>
          </a:p>
        </p:txBody>
      </p:sp>
      <p:sp>
        <p:nvSpPr>
          <p:cNvPr id="129" name="Text 125"/>
          <p:cNvSpPr/>
          <p:nvPr/>
        </p:nvSpPr>
        <p:spPr>
          <a:xfrm>
            <a:off x="9537700" y="3681909"/>
            <a:ext cx="1895519" cy="14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4A57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Expediente probatorio con cadena de custodia</a:t>
            </a:r>
            <a:endParaRPr lang="en-US" sz="750" dirty="0"/>
          </a:p>
        </p:txBody>
      </p:sp>
      <p:sp>
        <p:nvSpPr>
          <p:cNvPr id="130" name="Shape 126"/>
          <p:cNvSpPr/>
          <p:nvPr/>
        </p:nvSpPr>
        <p:spPr>
          <a:xfrm>
            <a:off x="7858125" y="3913386"/>
            <a:ext cx="3968750" cy="250180"/>
          </a:xfrm>
          <a:prstGeom prst="roundRect">
            <a:avLst>
              <a:gd name="adj" fmla="val 13960"/>
            </a:avLst>
          </a:prstGeom>
          <a:solidFill>
            <a:srgbClr val="FFFFFF"/>
          </a:solidFill>
          <a:ln w="635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1" name="Text 127"/>
          <p:cNvSpPr/>
          <p:nvPr/>
        </p:nvSpPr>
        <p:spPr>
          <a:xfrm>
            <a:off x="7937500" y="3973711"/>
            <a:ext cx="1574800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Congreso de la República</a:t>
            </a:r>
            <a:endParaRPr lang="en-US" sz="850" dirty="0"/>
          </a:p>
        </p:txBody>
      </p:sp>
      <p:sp>
        <p:nvSpPr>
          <p:cNvPr id="132" name="Text 128"/>
          <p:cNvSpPr/>
          <p:nvPr/>
        </p:nvSpPr>
        <p:spPr>
          <a:xfrm>
            <a:off x="9537700" y="3976539"/>
            <a:ext cx="1687761" cy="14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4A57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Tablero de control político en tiempo real</a:t>
            </a:r>
            <a:endParaRPr lang="en-US" sz="750" dirty="0"/>
          </a:p>
        </p:txBody>
      </p:sp>
      <p:sp>
        <p:nvSpPr>
          <p:cNvPr id="133" name="Shape 129"/>
          <p:cNvSpPr/>
          <p:nvPr/>
        </p:nvSpPr>
        <p:spPr>
          <a:xfrm>
            <a:off x="7858125" y="4208016"/>
            <a:ext cx="3968750" cy="379710"/>
          </a:xfrm>
          <a:prstGeom prst="roundRect">
            <a:avLst>
              <a:gd name="adj" fmla="val 9198"/>
            </a:avLst>
          </a:prstGeom>
          <a:solidFill>
            <a:srgbClr val="FFFFFF"/>
          </a:solidFill>
          <a:ln w="635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4" name="Text 130"/>
          <p:cNvSpPr/>
          <p:nvPr/>
        </p:nvSpPr>
        <p:spPr>
          <a:xfrm>
            <a:off x="7937500" y="4268341"/>
            <a:ext cx="157480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Ciudadanía, veedurías y academia</a:t>
            </a:r>
            <a:endParaRPr lang="en-US" sz="850" dirty="0"/>
          </a:p>
        </p:txBody>
      </p:sp>
      <p:sp>
        <p:nvSpPr>
          <p:cNvPr id="135" name="Text 131"/>
          <p:cNvSpPr/>
          <p:nvPr/>
        </p:nvSpPr>
        <p:spPr>
          <a:xfrm>
            <a:off x="9537700" y="4335959"/>
            <a:ext cx="2027095" cy="14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4A57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Seguimiento ciudadano, Escuela, ventanilla única</a:t>
            </a:r>
            <a:endParaRPr lang="en-US" sz="750" dirty="0"/>
          </a:p>
        </p:txBody>
      </p:sp>
      <p:sp>
        <p:nvSpPr>
          <p:cNvPr id="136" name="Shape 132"/>
          <p:cNvSpPr/>
          <p:nvPr/>
        </p:nvSpPr>
        <p:spPr>
          <a:xfrm>
            <a:off x="7858125" y="4632176"/>
            <a:ext cx="3968750" cy="379710"/>
          </a:xfrm>
          <a:prstGeom prst="roundRect">
            <a:avLst>
              <a:gd name="adj" fmla="val 9198"/>
            </a:avLst>
          </a:prstGeom>
          <a:solidFill>
            <a:srgbClr val="FFFFFF"/>
          </a:solidFill>
          <a:ln w="6350">
            <a:solidFill>
              <a:srgbClr val="D9DFE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7" name="Text 133"/>
          <p:cNvSpPr/>
          <p:nvPr/>
        </p:nvSpPr>
        <p:spPr>
          <a:xfrm>
            <a:off x="7937500" y="4692501"/>
            <a:ext cx="157480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0" b="1" dirty="0">
                <a:solidFill>
                  <a:srgbClr val="0A20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Entidades y ordenadores del gasto</a:t>
            </a:r>
            <a:endParaRPr lang="en-US" sz="850" dirty="0"/>
          </a:p>
        </p:txBody>
      </p:sp>
      <p:sp>
        <p:nvSpPr>
          <p:cNvPr id="138" name="Text 134"/>
          <p:cNvSpPr/>
          <p:nvPr/>
        </p:nvSpPr>
        <p:spPr>
          <a:xfrm>
            <a:off x="9537700" y="4760119"/>
            <a:ext cx="1977071" cy="14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4A576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Alertas tempranas no vinculantes antes del pago</a:t>
            </a:r>
            <a:endParaRPr lang="en-US" sz="750" dirty="0"/>
          </a:p>
        </p:txBody>
      </p:sp>
      <p:sp>
        <p:nvSpPr>
          <p:cNvPr id="139" name="Shape 135"/>
          <p:cNvSpPr/>
          <p:nvPr/>
        </p:nvSpPr>
        <p:spPr>
          <a:xfrm>
            <a:off x="3683000" y="6190010"/>
            <a:ext cx="1943100" cy="556121"/>
          </a:xfrm>
          <a:custGeom>
            <a:avLst/>
            <a:gdLst/>
            <a:ahLst/>
            <a:cxnLst/>
            <a:rect l="l" t="t" r="r" b="b"/>
            <a:pathLst>
              <a:path w="1943100" h="556121">
                <a:moveTo>
                  <a:pt x="0" y="0"/>
                </a:moveTo>
                <a:lnTo>
                  <a:pt x="1943100" y="0"/>
                </a:lnTo>
                <a:lnTo>
                  <a:pt x="1943100" y="505321"/>
                </a:lnTo>
                <a:arcTo wR="50800" hR="50800" stAng="0" swAng="5400000"/>
                <a:lnTo>
                  <a:pt x="50800" y="556121"/>
                </a:lnTo>
                <a:arcTo wR="50800" hR="508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A204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40" name="Shape 136"/>
          <p:cNvSpPr/>
          <p:nvPr/>
        </p:nvSpPr>
        <p:spPr>
          <a:xfrm>
            <a:off x="3683000" y="6190010"/>
            <a:ext cx="1943100" cy="556121"/>
          </a:xfrm>
          <a:custGeom>
            <a:avLst/>
            <a:gdLst/>
            <a:ahLst/>
            <a:cxnLst/>
            <a:rect l="l" t="t" r="r" b="b"/>
            <a:pathLst>
              <a:path w="1943100" h="556121">
                <a:moveTo>
                  <a:pt x="0" y="38100"/>
                </a:moveTo>
                <a:lnTo>
                  <a:pt x="0" y="0"/>
                </a:lnTo>
                <a:lnTo>
                  <a:pt x="1943100" y="0"/>
                </a:lnTo>
                <a:lnTo>
                  <a:pt x="19431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F2B6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41" name="Text 137"/>
          <p:cNvSpPr/>
          <p:nvPr/>
        </p:nvSpPr>
        <p:spPr>
          <a:xfrm>
            <a:off x="3782822" y="6414273"/>
            <a:ext cx="1792097" cy="132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1000" b="1" kern="0" spc="100" dirty="0">
                <a:solidFill>
                  <a:srgbClr val="F2B6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PROGRAMA BID</a:t>
            </a:r>
            <a:endParaRPr lang="en-US" sz="1000" dirty="0"/>
          </a:p>
        </p:txBody>
      </p:sp>
      <p:sp>
        <p:nvSpPr>
          <p:cNvPr id="143" name="Shape 139"/>
          <p:cNvSpPr/>
          <p:nvPr/>
        </p:nvSpPr>
        <p:spPr>
          <a:xfrm>
            <a:off x="5626100" y="6191300"/>
            <a:ext cx="1866900" cy="554881"/>
          </a:xfrm>
          <a:custGeom>
            <a:avLst/>
            <a:gdLst/>
            <a:ahLst/>
            <a:cxnLst/>
            <a:rect l="l" t="t" r="r" b="b"/>
            <a:pathLst>
              <a:path w="1866900" h="554881">
                <a:moveTo>
                  <a:pt x="0" y="0"/>
                </a:moveTo>
                <a:lnTo>
                  <a:pt x="1866900" y="0"/>
                </a:lnTo>
                <a:lnTo>
                  <a:pt x="1866900" y="504081"/>
                </a:lnTo>
                <a:arcTo wR="50800" hR="50800" stAng="0" swAng="5400000"/>
                <a:lnTo>
                  <a:pt x="50800" y="554881"/>
                </a:lnTo>
                <a:arcTo wR="50800" hR="508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A204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44" name="Shape 140"/>
          <p:cNvSpPr/>
          <p:nvPr/>
        </p:nvSpPr>
        <p:spPr>
          <a:xfrm>
            <a:off x="5626100" y="6191300"/>
            <a:ext cx="1866900" cy="554881"/>
          </a:xfrm>
          <a:custGeom>
            <a:avLst/>
            <a:gdLst/>
            <a:ahLst/>
            <a:cxnLst/>
            <a:rect l="l" t="t" r="r" b="b"/>
            <a:pathLst>
              <a:path w="1866900" h="554881">
                <a:moveTo>
                  <a:pt x="0" y="38100"/>
                </a:moveTo>
                <a:lnTo>
                  <a:pt x="0" y="0"/>
                </a:lnTo>
                <a:lnTo>
                  <a:pt x="1866900" y="0"/>
                </a:lnTo>
                <a:lnTo>
                  <a:pt x="18669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F2B6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45" name="Text 141"/>
          <p:cNvSpPr/>
          <p:nvPr/>
        </p:nvSpPr>
        <p:spPr>
          <a:xfrm>
            <a:off x="5731256" y="6353572"/>
            <a:ext cx="1714500" cy="24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1050" b="1" kern="0" spc="100" dirty="0">
                <a:solidFill>
                  <a:srgbClr val="F2B6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PRESUPUESTO DE LA ENTIDAD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" name="Shape 7"/>
          <p:cNvSpPr/>
          <p:nvPr/>
        </p:nvSpPr>
        <p:spPr>
          <a:xfrm>
            <a:off x="582296" y="1376535"/>
            <a:ext cx="3583484" cy="1609775"/>
          </a:xfrm>
          <a:prstGeom prst="roundRect">
            <a:avLst>
              <a:gd name="adj" fmla="val 3747"/>
            </a:avLst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10" name="Text 8"/>
          <p:cNvSpPr/>
          <p:nvPr/>
        </p:nvSpPr>
        <p:spPr>
          <a:xfrm>
            <a:off x="712471" y="1452548"/>
            <a:ext cx="3323134" cy="42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b="1" dirty="0">
                <a:solidFill>
                  <a:srgbClr val="0E23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de información de la Contraloría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2471" y="1687338"/>
            <a:ext cx="3422828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0"/>
              </a:lnSpc>
              <a:buNone/>
            </a:pP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12471" y="1992733"/>
            <a:ext cx="3323134" cy="0"/>
          </a:xfrm>
          <a:prstGeom prst="line">
            <a:avLst/>
          </a:prstGeom>
          <a:noFill/>
          <a:ln w="6350">
            <a:solidFill>
              <a:srgbClr val="EEEAE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Text 11"/>
          <p:cNvSpPr/>
          <p:nvPr/>
        </p:nvSpPr>
        <p:spPr>
          <a:xfrm>
            <a:off x="712471" y="2094675"/>
            <a:ext cx="3422828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 Centro inteligente de control fiscal con interoperabilidad, alertas tempranas e IA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12471" y="2425724"/>
            <a:ext cx="3323134" cy="0"/>
          </a:xfrm>
          <a:prstGeom prst="line">
            <a:avLst/>
          </a:prstGeom>
          <a:noFill/>
          <a:ln w="6350">
            <a:solidFill>
              <a:srgbClr val="EEEAE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5" name="Text 13"/>
          <p:cNvSpPr/>
          <p:nvPr/>
        </p:nvSpPr>
        <p:spPr>
          <a:xfrm>
            <a:off x="725171" y="2475840"/>
            <a:ext cx="3422828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 Responsabilidad fiscal y recaudo; tablero territorial y georreferenciación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2471" y="2706314"/>
            <a:ext cx="3323134" cy="0"/>
          </a:xfrm>
          <a:prstGeom prst="line">
            <a:avLst/>
          </a:prstGeom>
          <a:noFill/>
          <a:ln w="6350">
            <a:solidFill>
              <a:srgbClr val="EEEAE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7" name="Text 15"/>
          <p:cNvSpPr/>
          <p:nvPr/>
        </p:nvSpPr>
        <p:spPr>
          <a:xfrm>
            <a:off x="712471" y="2741239"/>
            <a:ext cx="3422828" cy="165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 Tableros de gestión para el Despacho y para el Congreso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73730" y="1376535"/>
            <a:ext cx="3583533" cy="1609775"/>
          </a:xfrm>
          <a:prstGeom prst="roundRect">
            <a:avLst>
              <a:gd name="adj" fmla="val 3747"/>
            </a:avLst>
          </a:prstGeom>
          <a:solidFill>
            <a:srgbClr val="0A2040"/>
          </a:solidFill>
          <a:ln/>
        </p:spPr>
        <p:txBody>
          <a:bodyPr/>
          <a:lstStyle/>
          <a:p>
            <a:endParaRPr lang="es-ES_tradnl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03905" y="1554156"/>
            <a:ext cx="3422879" cy="3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323"/>
              </a:lnSpc>
              <a:buNone/>
            </a:pPr>
            <a:r>
              <a:rPr lang="en-US" sz="1400" b="1" dirty="0">
                <a:solidFill>
                  <a:srgbClr val="FFC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de información de control </a:t>
            </a:r>
            <a:r>
              <a:rPr lang="en-US" sz="1400" b="1" dirty="0" err="1">
                <a:solidFill>
                  <a:srgbClr val="FFC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interno</a:t>
            </a:r>
            <a:r>
              <a:rPr lang="en-US" sz="1400" b="1" dirty="0">
                <a:solidFill>
                  <a:srgbClr val="FFC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ctr">
              <a:lnSpc>
                <a:spcPts val="1323"/>
              </a:lnSpc>
              <a:buNone/>
            </a:pPr>
            <a:r>
              <a:rPr lang="en-US" sz="1400" b="1" dirty="0" err="1">
                <a:solidFill>
                  <a:srgbClr val="FFC000"/>
                </a:solidFill>
                <a:latin typeface="Inter" pitchFamily="34" charset="0"/>
                <a:ea typeface="Inter" pitchFamily="34" charset="-122"/>
              </a:rPr>
              <a:t>Entidades</a:t>
            </a:r>
            <a:r>
              <a:rPr lang="en-US" sz="1400" b="1" dirty="0">
                <a:solidFill>
                  <a:srgbClr val="FFC000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400" b="1" dirty="0" err="1">
                <a:solidFill>
                  <a:srgbClr val="FFC000"/>
                </a:solidFill>
                <a:latin typeface="Inter" pitchFamily="34" charset="0"/>
                <a:ea typeface="Inter" pitchFamily="34" charset="-122"/>
              </a:rPr>
              <a:t>publicas</a:t>
            </a:r>
            <a:endParaRPr lang="en-US" sz="1400" dirty="0">
              <a:solidFill>
                <a:srgbClr val="FFC000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403905" y="1992733"/>
            <a:ext cx="3323183" cy="0"/>
          </a:xfrm>
          <a:prstGeom prst="line">
            <a:avLst/>
          </a:prstGeom>
          <a:noFill/>
          <a:ln w="6350">
            <a:solidFill>
              <a:srgbClr val="EEEAE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Text 20"/>
          <p:cNvSpPr/>
          <p:nvPr/>
        </p:nvSpPr>
        <p:spPr>
          <a:xfrm>
            <a:off x="4412159" y="2145475"/>
            <a:ext cx="3422879" cy="165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 Alertas compartidas con las oficinas de control interno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412159" y="2361970"/>
            <a:ext cx="3422879" cy="165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 Modelo de control fiscal interno para las entidades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4412159" y="2578466"/>
            <a:ext cx="3422879" cy="165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 Índice de efectividad por entidad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940066" y="1365772"/>
            <a:ext cx="3583533" cy="1609775"/>
          </a:xfrm>
          <a:prstGeom prst="roundRect">
            <a:avLst>
              <a:gd name="adj" fmla="val 3747"/>
            </a:avLst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8" name="Text 26"/>
          <p:cNvSpPr/>
          <p:nvPr/>
        </p:nvSpPr>
        <p:spPr>
          <a:xfrm>
            <a:off x="8020392" y="1595027"/>
            <a:ext cx="3422879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323"/>
              </a:lnSpc>
              <a:buNone/>
            </a:pPr>
            <a:r>
              <a:rPr lang="en-US" sz="1600" b="1" dirty="0">
                <a:solidFill>
                  <a:srgbClr val="0E23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de información de control ciudadano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70241" y="2128786"/>
            <a:ext cx="3422879" cy="165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 Ventanilla única de denuncias con protección del denunciante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8070241" y="2345281"/>
            <a:ext cx="3422879" cy="165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 Portal de seguimiento ciudadano de proyectos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8070241" y="2561777"/>
            <a:ext cx="3422879" cy="165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 Plataforma de la Escuela Nacional de Control Ciudadano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82296" y="3577631"/>
            <a:ext cx="10966450" cy="2685058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6350">
            <a:solidFill>
              <a:srgbClr val="E1DCD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7" name="Shape 35"/>
          <p:cNvSpPr/>
          <p:nvPr/>
        </p:nvSpPr>
        <p:spPr>
          <a:xfrm>
            <a:off x="725171" y="3970635"/>
            <a:ext cx="10680700" cy="0"/>
          </a:xfrm>
          <a:prstGeom prst="line">
            <a:avLst/>
          </a:prstGeom>
          <a:noFill/>
          <a:ln w="12700">
            <a:solidFill>
              <a:srgbClr val="0E2338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8" name="Text 36"/>
          <p:cNvSpPr/>
          <p:nvPr/>
        </p:nvSpPr>
        <p:spPr>
          <a:xfrm>
            <a:off x="725171" y="3682405"/>
            <a:ext cx="183134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kern="0" spc="100" dirty="0">
                <a:solidFill>
                  <a:srgbClr val="0E23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 LIDERA · LÍNEA DE NEGOCIO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2503171" y="3682405"/>
            <a:ext cx="30565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kern="0" spc="100" dirty="0">
                <a:solidFill>
                  <a:srgbClr val="0E23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5470705" y="3682405"/>
            <a:ext cx="305661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kern="0" spc="100" dirty="0">
                <a:solidFill>
                  <a:srgbClr val="0E23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IMPLEMENTACIÓN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8438288" y="3682405"/>
            <a:ext cx="305661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kern="0" spc="100" dirty="0">
                <a:solidFill>
                  <a:srgbClr val="0E23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OPERACIÓN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725171" y="4345881"/>
            <a:ext cx="10680700" cy="0"/>
          </a:xfrm>
          <a:prstGeom prst="line">
            <a:avLst/>
          </a:prstGeom>
          <a:noFill/>
          <a:ln w="6350">
            <a:solidFill>
              <a:srgbClr val="EEEAE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4" name="Text 42"/>
          <p:cNvSpPr/>
          <p:nvPr/>
        </p:nvSpPr>
        <p:spPr>
          <a:xfrm>
            <a:off x="725171" y="4140796"/>
            <a:ext cx="1752854" cy="17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950" b="1" dirty="0">
                <a:solidFill>
                  <a:srgbClr val="0E23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Infraestructura y nube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503171" y="4034135"/>
            <a:ext cx="299554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 objetivo, nube y continuidad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500371" y="4034135"/>
            <a:ext cx="299554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Migración, renovación y conectividad de las gerencias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497571" y="4034135"/>
            <a:ext cx="299554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Operación de plataforma y monitoreo continuo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25171" y="4862711"/>
            <a:ext cx="10680700" cy="0"/>
          </a:xfrm>
          <a:prstGeom prst="line">
            <a:avLst/>
          </a:prstGeom>
          <a:noFill/>
          <a:ln w="6350">
            <a:solidFill>
              <a:srgbClr val="EEEAE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0" name="Text 48"/>
          <p:cNvSpPr/>
          <p:nvPr/>
        </p:nvSpPr>
        <p:spPr>
          <a:xfrm>
            <a:off x="725171" y="4512866"/>
            <a:ext cx="1752854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950" b="1" dirty="0">
                <a:solidFill>
                  <a:srgbClr val="0E23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Inteligencia artificial y analítica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503171" y="4406206"/>
            <a:ext cx="2995549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Modelos de riesgo y gobierno de la IA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500371" y="4406206"/>
            <a:ext cx="2995549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Modelos en producción, interoperabilidad y tableros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497571" y="4406206"/>
            <a:ext cx="2995549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Reentrenamiento, monitoreo y nuevas fuentes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25171" y="5379542"/>
            <a:ext cx="10680700" cy="0"/>
          </a:xfrm>
          <a:prstGeom prst="line">
            <a:avLst/>
          </a:prstGeom>
          <a:noFill/>
          <a:ln w="6350">
            <a:solidFill>
              <a:srgbClr val="EEEAE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6" name="Text 54"/>
          <p:cNvSpPr/>
          <p:nvPr/>
        </p:nvSpPr>
        <p:spPr>
          <a:xfrm>
            <a:off x="725171" y="5029696"/>
            <a:ext cx="1752854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950" b="1" dirty="0">
                <a:solidFill>
                  <a:srgbClr val="0E23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Equipo técnico especializado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503171" y="4923036"/>
            <a:ext cx="2995549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Arquitectos, científicos de datos y expertos en control fiscal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500371" y="4923036"/>
            <a:ext cx="2995549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Fábrica de software y datos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497571" y="4923036"/>
            <a:ext cx="2995549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Célula permanente de evolución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25171" y="5896372"/>
            <a:ext cx="10680700" cy="0"/>
          </a:xfrm>
          <a:prstGeom prst="line">
            <a:avLst/>
          </a:prstGeom>
          <a:noFill/>
          <a:ln w="6350">
            <a:solidFill>
              <a:srgbClr val="EEEAE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2" name="Text 60"/>
          <p:cNvSpPr/>
          <p:nvPr/>
        </p:nvSpPr>
        <p:spPr>
          <a:xfrm>
            <a:off x="725171" y="5546527"/>
            <a:ext cx="1752854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950" b="1" dirty="0">
                <a:solidFill>
                  <a:srgbClr val="0E23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Mesa de ayuda y mesa de servicios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2503171" y="5439867"/>
            <a:ext cx="2995549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de servicios y acuerdos de nivel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500371" y="5439867"/>
            <a:ext cx="2995549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Mesa de servicios para la sede central, las gerencias y las entidades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497571" y="5439867"/>
            <a:ext cx="2995549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incidentes, cambios y medición del servicio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48666" y="5970864"/>
            <a:ext cx="1752854" cy="17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950" b="1" dirty="0">
                <a:solidFill>
                  <a:srgbClr val="0E23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Seguridad y continuidad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2503171" y="5956697"/>
            <a:ext cx="2995549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de seguridad, recuperación y cadena de custodia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500371" y="5956697"/>
            <a:ext cx="2995549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Centro de operaciones de seguridad y expediente inmutable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497571" y="5956697"/>
            <a:ext cx="2995549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Monitoreo, respuesta y auditoría concurrente</a:t>
            </a:r>
            <a:endParaRPr lang="en-US" sz="850" dirty="0"/>
          </a:p>
        </p:txBody>
      </p:sp>
      <p:sp>
        <p:nvSpPr>
          <p:cNvPr id="87" name="Shape 135">
            <a:extLst>
              <a:ext uri="{FF2B5EF4-FFF2-40B4-BE49-F238E27FC236}">
                <a16:creationId xmlns:a16="http://schemas.microsoft.com/office/drawing/2014/main" id="{BEBC63AE-119B-CCB3-662C-5D7631664DBC}"/>
              </a:ext>
            </a:extLst>
          </p:cNvPr>
          <p:cNvSpPr/>
          <p:nvPr/>
        </p:nvSpPr>
        <p:spPr>
          <a:xfrm>
            <a:off x="3194227" y="179365"/>
            <a:ext cx="6164261" cy="694581"/>
          </a:xfrm>
          <a:custGeom>
            <a:avLst/>
            <a:gdLst/>
            <a:ahLst/>
            <a:cxnLst/>
            <a:rect l="l" t="t" r="r" b="b"/>
            <a:pathLst>
              <a:path w="1943100" h="556121">
                <a:moveTo>
                  <a:pt x="0" y="0"/>
                </a:moveTo>
                <a:lnTo>
                  <a:pt x="1943100" y="0"/>
                </a:lnTo>
                <a:lnTo>
                  <a:pt x="1943100" y="505321"/>
                </a:lnTo>
                <a:arcTo wR="50800" hR="50800" stAng="0" swAng="5400000"/>
                <a:lnTo>
                  <a:pt x="50800" y="556121"/>
                </a:lnTo>
                <a:arcTo wR="50800" hR="508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A2040"/>
          </a:solidFill>
          <a:ln/>
        </p:spPr>
        <p:txBody>
          <a:bodyPr/>
          <a:lstStyle/>
          <a:p>
            <a:endParaRPr lang="es-ES_tradnl" dirty="0"/>
          </a:p>
        </p:txBody>
      </p:sp>
      <p:sp>
        <p:nvSpPr>
          <p:cNvPr id="89" name="Text 138">
            <a:extLst>
              <a:ext uri="{FF2B5EF4-FFF2-40B4-BE49-F238E27FC236}">
                <a16:creationId xmlns:a16="http://schemas.microsoft.com/office/drawing/2014/main" id="{7CBCDF42-3BB8-2173-628D-85AFCF2B8E0A}"/>
              </a:ext>
            </a:extLst>
          </p:cNvPr>
          <p:cNvSpPr/>
          <p:nvPr/>
        </p:nvSpPr>
        <p:spPr>
          <a:xfrm>
            <a:off x="3295828" y="373386"/>
            <a:ext cx="6062660" cy="50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ts val="1040"/>
              </a:lnSpc>
            </a:pPr>
            <a:r>
              <a:rPr lang="en-US" sz="28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Centro </a:t>
            </a:r>
            <a:r>
              <a:rPr lang="en-US" sz="2800" b="1" dirty="0" err="1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Inteligente</a:t>
            </a:r>
            <a:r>
              <a:rPr lang="en-US" sz="28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de Control Fiscal</a:t>
            </a:r>
            <a:endParaRPr lang="en-US" sz="2800" dirty="0"/>
          </a:p>
        </p:txBody>
      </p:sp>
      <p:sp>
        <p:nvSpPr>
          <p:cNvPr id="90" name="Shape 19">
            <a:extLst>
              <a:ext uri="{FF2B5EF4-FFF2-40B4-BE49-F238E27FC236}">
                <a16:creationId xmlns:a16="http://schemas.microsoft.com/office/drawing/2014/main" id="{2B35D8CB-D0B8-0285-E85B-A6F10A9C6A25}"/>
              </a:ext>
            </a:extLst>
          </p:cNvPr>
          <p:cNvSpPr/>
          <p:nvPr/>
        </p:nvSpPr>
        <p:spPr>
          <a:xfrm>
            <a:off x="8070241" y="1992733"/>
            <a:ext cx="3323183" cy="0"/>
          </a:xfrm>
          <a:prstGeom prst="line">
            <a:avLst/>
          </a:prstGeom>
          <a:noFill/>
          <a:ln w="6350">
            <a:solidFill>
              <a:srgbClr val="EEEAE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1745</TotalTime>
  <Words>1223</Words>
  <Application>Microsoft Macintosh PowerPoint</Application>
  <PresentationFormat>Panorámica</PresentationFormat>
  <Paragraphs>150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Inter</vt:lpstr>
      <vt:lpstr>Source Sans 3</vt:lpstr>
      <vt:lpstr>Source Serif 4</vt:lpstr>
      <vt:lpstr>Office Theme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cumplo mi plan con tecnología — Contraloría General de la República 2026–2030</dc:title>
  <dc:subject>PptxGenJS Presentation</dc:subject>
  <dc:creator>PptxGenJS</dc:creator>
  <cp:lastModifiedBy>Jelkin Zair Carrillo Franco (CGR)</cp:lastModifiedBy>
  <cp:revision>5</cp:revision>
  <dcterms:created xsi:type="dcterms:W3CDTF">2026-09-29T14:38:06Z</dcterms:created>
  <dcterms:modified xsi:type="dcterms:W3CDTF">2026-10-07T00:40:08Z</dcterms:modified>
</cp:coreProperties>
</file>